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0.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Navigation World Models 프로젝트 강의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498079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800" b="1">
                <a:solidFill>
                  <a:srgbClr val="2563A2"/>
                </a:solidFill>
                <a:latin typeface="Noto Sans CJK KR"/>
              </a:defRPr>
            </a:pPr>
            <a:r>
              <a:t>Text-Conditioned Lightweight NWM / RECON Fork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80467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400" b="0">
                <a:solidFill>
                  <a:srgbClr val="343D49"/>
                </a:solidFill>
                <a:latin typeface="Noto Sans CJK KR"/>
              </a:defRPr>
            </a:pPr>
            <a:r>
              <a:t>이 PPT의 목표는 코드를 바로 실행하기 전에 전체 시스템의 목적과 흐름을 먼저 머릿속에 그리는 것입니다.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88920"/>
            <a:ext cx="2331720" cy="1417320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935224"/>
            <a:ext cx="2057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2563A2"/>
                </a:solidFill>
                <a:latin typeface="Noto Sans CJK KR"/>
              </a:defRPr>
            </a:pPr>
            <a:r>
              <a:t>Course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227832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200" b="1">
                <a:solidFill>
                  <a:srgbClr val="181F2A"/>
                </a:solidFill>
                <a:latin typeface="Noto Sans CJK KR"/>
              </a:defRPr>
            </a:pPr>
            <a:r>
              <a:t>31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739896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00" b="0">
                <a:solidFill>
                  <a:srgbClr val="343D49"/>
                </a:solidFill>
                <a:latin typeface="Noto Sans CJK KR"/>
              </a:defRPr>
            </a:pPr>
            <a:r>
              <a:t>개념 → 코드 → 실험 → 실습 순서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6120" y="2788920"/>
            <a:ext cx="2331720" cy="1417320"/>
          </a:xfrm>
          <a:prstGeom prst="roundRect">
            <a:avLst/>
          </a:prstGeom>
          <a:solidFill>
            <a:srgbClr val="E0F4F1"/>
          </a:solidFill>
          <a:ln>
            <a:solidFill>
              <a:srgbClr val="E0F4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2935224"/>
            <a:ext cx="2057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4857C"/>
                </a:solidFill>
                <a:latin typeface="Noto Sans CJK KR"/>
              </a:defRPr>
            </a:pPr>
            <a:r>
              <a:t>Core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3227832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200" b="1">
                <a:solidFill>
                  <a:srgbClr val="181F2A"/>
                </a:solidFill>
                <a:latin typeface="Noto Sans CJK KR"/>
              </a:defRPr>
            </a:pPr>
            <a:r>
              <a:t>CDiT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3739896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00" b="0">
                <a:solidFill>
                  <a:srgbClr val="343D49"/>
                </a:solidFill>
                <a:latin typeface="Noto Sans CJK KR"/>
              </a:defRPr>
            </a:pPr>
            <a:r>
              <a:t>Conditional Diffusion Transformer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9008" y="2788920"/>
            <a:ext cx="2331720" cy="1417320"/>
          </a:xfrm>
          <a:prstGeom prst="roundRect">
            <a:avLst/>
          </a:prstGeom>
          <a:solidFill>
            <a:srgbClr val="FCEFE1"/>
          </a:solidFill>
          <a:ln>
            <a:solidFill>
              <a:srgbClr val="FCEF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16168" y="2935224"/>
            <a:ext cx="205740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CD7425"/>
                </a:solidFill>
                <a:latin typeface="Noto Sans CJK KR"/>
              </a:defRPr>
            </a:pPr>
            <a:r>
              <a:t>Main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6168" y="3227832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200" b="1">
                <a:solidFill>
                  <a:srgbClr val="181F2A"/>
                </a:solidFill>
                <a:latin typeface="Noto Sans CJK KR"/>
              </a:defRPr>
            </a:pPr>
            <a:r>
              <a:t>RECON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3739896"/>
            <a:ext cx="20574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00" b="0">
                <a:solidFill>
                  <a:srgbClr val="343D49"/>
                </a:solidFill>
                <a:latin typeface="Noto Sans CJK KR"/>
              </a:defRPr>
            </a:pPr>
            <a:r>
              <a:t>Trajectory frames + pose/action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11896" y="2788920"/>
            <a:ext cx="2514600" cy="1417320"/>
          </a:xfrm>
          <a:prstGeom prst="roundRect">
            <a:avLst/>
          </a:prstGeom>
          <a:solidFill>
            <a:srgbClr val="E1F2E8"/>
          </a:solidFill>
          <a:ln>
            <a:solidFill>
              <a:srgbClr val="E1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2935224"/>
            <a:ext cx="22402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2F804E"/>
                </a:solidFill>
                <a:latin typeface="Noto Sans CJK KR"/>
              </a:defRPr>
            </a:pPr>
            <a:r>
              <a:t>Current Variant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6" y="3227832"/>
            <a:ext cx="22402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200" b="1">
                <a:solidFill>
                  <a:srgbClr val="181F2A"/>
                </a:solidFill>
                <a:latin typeface="Noto Sans CJK KR"/>
              </a:defRPr>
            </a:pPr>
            <a:r>
              <a:t>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3739896"/>
            <a:ext cx="22402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00" b="0">
                <a:solidFill>
                  <a:srgbClr val="343D49"/>
                </a:solidFill>
                <a:latin typeface="Noto Sans CJK KR"/>
              </a:defRPr>
            </a:pPr>
            <a:r>
              <a:t>Qwen captions + CLIP embeddings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983480"/>
            <a:ext cx="10789920" cy="658368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00">
                <a:solidFill>
                  <a:srgbClr val="EEF2F7"/>
                </a:solidFill>
                <a:latin typeface="DejaVu Sans Mono"/>
              </a:defRPr>
            </a:pPr>
            <a:r>
              <a:t>repo: /home/kun/kun_ssd/nwm</a:t>
            </a:r>
            <a:br/>
            <a:r>
              <a:t>outputs: artifacts/decks/nwm_course/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0. 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수업 로드맵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86537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41732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636776"/>
            <a:ext cx="157276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84248"/>
            <a:ext cx="157276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미래 시각 상태를 예측해 navigation을 돕는다.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87752" y="211683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16936" y="1508760"/>
            <a:ext cx="186537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16936" y="1508760"/>
            <a:ext cx="73152" cy="141732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636776"/>
            <a:ext cx="157276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1984248"/>
            <a:ext cx="157276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trajectory, 이미지, pose, action, text cache를 다룬다.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8888" y="211683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8072" y="1508760"/>
            <a:ext cx="186537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48072" y="1508760"/>
            <a:ext cx="73152" cy="141732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636776"/>
            <a:ext cx="157276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984248"/>
            <a:ext cx="157276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VAE latent + diffusion + CDiT conditioning.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50024" y="211683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79208" y="1508760"/>
            <a:ext cx="186537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79208" y="1508760"/>
            <a:ext cx="73152" cy="141732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1636776"/>
            <a:ext cx="157276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34656" y="1984248"/>
            <a:ext cx="157276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time, rollout, CEM planning으로 검증한다.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81159" y="211683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10344" y="1508760"/>
            <a:ext cx="186537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10344" y="1508760"/>
            <a:ext cx="73152" cy="141732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65792" y="1636776"/>
            <a:ext cx="157276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실습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1984248"/>
            <a:ext cx="157276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Docker, smoke, train, infer, evaluate 명령.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70332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703320"/>
            <a:ext cx="73152" cy="105156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831335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학습 목표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4178808"/>
            <a:ext cx="2953512" cy="48463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이 repo에서 어떤 파일이 무엇을 담당하는지 설명할 수 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70332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703320"/>
            <a:ext cx="73152" cy="105156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3831335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학습 목표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4178808"/>
            <a:ext cx="2953512" cy="48463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CDiT world model이 무엇을 예측하고 어떤 조건을 쓰는지 설명할 수 있다.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70332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3703320"/>
            <a:ext cx="73152" cy="105156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8" y="3831335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학습 목표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4178808"/>
            <a:ext cx="2953512" cy="48463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평가 결과에서 LPIPS/DreamSim/FID/ATE/RPE가 의미하는 바를 읽을 수 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1.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프로젝트 한 줄 정의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078992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000" b="1">
                <a:solidFill>
                  <a:srgbClr val="181F2A"/>
                </a:solidFill>
                <a:latin typeface="Noto Sans CJK KR"/>
              </a:defRPr>
            </a:pPr>
            <a:r>
              <a:t>Navigation World Model은 현재 관측과 행동 후보를 조건으로 가까운 미래의 시각 상태를 생성하는 모델입니다.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23160"/>
            <a:ext cx="2377440" cy="201168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423160"/>
            <a:ext cx="73152" cy="201168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51176"/>
            <a:ext cx="20848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입력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98648"/>
            <a:ext cx="2084832" cy="1444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과거 context frames</a:t>
            </a:r>
            <a:br/>
            <a:r>
              <a:t>상대 이동/회전 action</a:t>
            </a:r>
            <a:br/>
            <a:r>
              <a:t>미래 시간 offset</a:t>
            </a:r>
            <a:br/>
            <a:r>
              <a:t>선택적 text embedding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423160"/>
            <a:ext cx="2377440" cy="201168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2423160"/>
            <a:ext cx="73152" cy="201168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551176"/>
            <a:ext cx="20848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출력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898648"/>
            <a:ext cx="2084832" cy="1444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미래 프레임 또는 rollout</a:t>
            </a:r>
            <a:br/>
            <a:r>
              <a:t>VAE latent를 거쳐 pixel image로 복원</a:t>
            </a:r>
            <a:br/>
            <a:r>
              <a:t>후속 평가/계획에 사용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423160"/>
            <a:ext cx="2377440" cy="201168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80760" y="2423160"/>
            <a:ext cx="73152" cy="201168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6208" y="2551176"/>
            <a:ext cx="20848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학습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898648"/>
            <a:ext cx="2084832" cy="1444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정책을 직접 학습하지 않음</a:t>
            </a:r>
            <a:br/>
            <a:r>
              <a:t>행동 조건부 미래 latent의 denoising을 학습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2423160"/>
            <a:ext cx="2377440" cy="2011680"/>
          </a:xfrm>
          <a:prstGeom prst="roundRect">
            <a:avLst/>
          </a:prstGeom>
          <a:solidFill>
            <a:srgbClr val="E1F2E8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732520" y="2423160"/>
            <a:ext cx="73152" cy="201168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2551176"/>
            <a:ext cx="20848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계획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2898648"/>
            <a:ext cx="2084832" cy="14447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후보 action을 샘플링하고</a:t>
            </a:r>
            <a:br/>
            <a:r>
              <a:t>world model rollout을 goal image와 비교해 고름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66360"/>
            <a:ext cx="1014984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700" b="1">
                <a:solidFill>
                  <a:srgbClr val="2563A2"/>
                </a:solidFill>
                <a:latin typeface="Noto Sans CJK KR"/>
              </a:defRPr>
            </a:pPr>
            <a:r>
              <a:t>핵심 질문: “이 행동을 하면 몇 초 뒤 내 카메라가 무엇을 볼까?”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1. 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이 프로젝트에서 우리가 추가로 묻는 질문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715000" cy="228600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저해상도 또는 경량 모델에서는 이미지에서 길, 벽, 통로, 장애물의 의미가 흐려질 수 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VLM caption을 offline으로 만들고 CLIP embedding으로 cache하면 semantic prior로 쓸 수 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텍스트는 명령이 아니라 장면의 의미를 보완하는 조건 신호다.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검증은 frame prediction, rollout, planning 성능으로 나눠서 본다.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160520"/>
            <a:ext cx="115443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4160520"/>
            <a:ext cx="73152" cy="109728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288536"/>
            <a:ext cx="86182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Raw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636008"/>
            <a:ext cx="861821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RECON image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68245" y="4608575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97429" y="4160520"/>
            <a:ext cx="115443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97429" y="4160520"/>
            <a:ext cx="73152" cy="109728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2877" y="4288536"/>
            <a:ext cx="86182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Qwen caption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2877" y="4636008"/>
            <a:ext cx="861821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offline scene text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488435" y="4608575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17620" y="4160520"/>
            <a:ext cx="115443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17620" y="4160520"/>
            <a:ext cx="73152" cy="109728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3068" y="4288536"/>
            <a:ext cx="86182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CLIP embed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3068" y="4636008"/>
            <a:ext cx="861821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dense npz cache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008626" y="4608575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337809" y="4160520"/>
            <a:ext cx="115443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37809" y="4160520"/>
            <a:ext cx="73152" cy="109728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3257" y="4288536"/>
            <a:ext cx="86182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CDiT cond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3257" y="4636008"/>
            <a:ext cx="861821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text_proj로 합산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03720" y="1417320"/>
            <a:ext cx="4343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03720" y="1417320"/>
            <a:ext cx="73152" cy="3840480"/>
          </a:xfrm>
          <a:prstGeom prst="rect">
            <a:avLst/>
          </a:prstGeom>
          <a:solidFill>
            <a:srgbClr val="B74740"/>
          </a:solidFill>
          <a:ln>
            <a:solidFill>
              <a:srgbClr val="B74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9168" y="1545336"/>
            <a:ext cx="40507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500" b="1">
                <a:solidFill>
                  <a:srgbClr val="181F2A"/>
                </a:solidFill>
                <a:latin typeface="Noto Sans CJK KR"/>
              </a:defRPr>
            </a:pPr>
            <a:r>
              <a:t>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1892808"/>
            <a:ext cx="4050791" cy="3273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200" b="0">
                <a:solidFill>
                  <a:srgbClr val="343D49"/>
                </a:solidFill>
                <a:latin typeface="Noto Sans CJK KR"/>
              </a:defRPr>
            </a:pPr>
            <a:r>
              <a:t>텍스트 조건을 넣는다고 planning policy를 학습하는 것은 아닙니다. 모델 학습은 여전히 future image/latent prediction이고, CEM은 평가 시 후보 행동을 고르는 planner입니다.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2. 코드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Repository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577840" cy="498348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900">
                <a:solidFill>
                  <a:srgbClr val="EEF2F7"/>
                </a:solidFill>
                <a:latin typeface="DejaVu Sans Mono"/>
              </a:defRPr>
            </a:pPr>
            <a:r>
              <a:t>nwm/</a:t>
            </a:r>
            <a:br/>
            <a:r>
              <a:t>├── scripts/       실행 진입점: train, infer, evaluate, plan_eval</a:t>
            </a:r>
            <a:br/>
            <a:r>
              <a:t>├── src/           실제 Python package</a:t>
            </a:r>
            <a:br/>
            <a:r>
              <a:t>│   ├── data/      dataset, trajectory/action/image transform</a:t>
            </a:r>
            <a:br/>
            <a:r>
              <a:t>│   ├── models/    CDiT backbone, checkpoint, VAE loader</a:t>
            </a:r>
            <a:br/>
            <a:r>
              <a:t>│   ├── diffusion/ DDPM / respacing</a:t>
            </a:r>
            <a:br/>
            <a:r>
              <a:t>│   ├── evaluation/inference, metrics, planning</a:t>
            </a:r>
            <a:br/>
            <a:r>
              <a:t>│   └── features/text/ text cache utilities</a:t>
            </a:r>
            <a:br/>
            <a:r>
              <a:t>├── configs/       experiment/data/evaluation YAML</a:t>
            </a:r>
            <a:br/>
            <a:r>
              <a:t>├── data/splits/   train/test/eval split metadata</a:t>
            </a:r>
            <a:br/>
            <a:r>
              <a:t>├── datasets/      raw and derived datasets</a:t>
            </a:r>
            <a:br/>
            <a:r>
              <a:t>├── weights/       checkpoints, pretrained, cache</a:t>
            </a:r>
            <a:br/>
            <a:r>
              <a:t>├── logs/          train/runtime logs</a:t>
            </a:r>
            <a:br/>
            <a:r>
              <a:t>└── artifacts/     eval outputs, summaries, decks, figures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389888"/>
            <a:ext cx="44805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389888"/>
            <a:ext cx="73152" cy="196596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517904"/>
            <a:ext cx="41879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읽는 순서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39128" y="1865376"/>
            <a:ext cx="4187952" cy="139903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1. README / docs/project_structure</a:t>
            </a:r>
            <a:br/>
            <a:r>
              <a:t>2. configs/experiment/*.yaml</a:t>
            </a:r>
            <a:br/>
            <a:r>
              <a:t>3. scripts/train.py</a:t>
            </a:r>
            <a:br/>
            <a:r>
              <a:t>4. src/models/backbones/cdit.py</a:t>
            </a:r>
            <a:br/>
            <a:r>
              <a:t>5. scripts/infer.py / evaluate.py / plan_eval.py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703320"/>
            <a:ext cx="4480560" cy="141732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703320"/>
            <a:ext cx="73152" cy="141732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3831335"/>
            <a:ext cx="41879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중요한 구분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39128" y="4178808"/>
            <a:ext cx="418795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`models/` 폴더가 아니라 `src/models/backbones/cdit.py`가 실제 모델 코드입니다. 루트의 `diffusion/`은 stale cache이고, 실제 구현은 `src/diffusion/`입니다.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2. 코드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Runtime 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377439" cy="141732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45336"/>
            <a:ext cx="20848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YAML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92808"/>
            <a:ext cx="2084831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model, dataset, image_size, text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99815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417320"/>
            <a:ext cx="2377439" cy="141732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1417320"/>
            <a:ext cx="73152" cy="141732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1545336"/>
            <a:ext cx="20848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1892808"/>
            <a:ext cx="2084831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train.py / infer.py / plan_eval.py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43016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417320"/>
            <a:ext cx="2377439" cy="141732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73152" cy="141732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1545336"/>
            <a:ext cx="20848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src modules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1892808"/>
            <a:ext cx="2084831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data + model + diffusion + metrics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86215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15400" y="1417320"/>
            <a:ext cx="2377439" cy="1417320"/>
          </a:xfrm>
          <a:prstGeom prst="roundRect">
            <a:avLst/>
          </a:prstGeom>
          <a:solidFill>
            <a:srgbClr val="E1F2E8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15400" y="1417320"/>
            <a:ext cx="73152" cy="141732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0848" y="1545336"/>
            <a:ext cx="20848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outputs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8" y="1892808"/>
            <a:ext cx="2084831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weights + logs + artifacts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42900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429000"/>
            <a:ext cx="73152" cy="12344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557016"/>
            <a:ext cx="29992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Train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3904487"/>
            <a:ext cx="2999232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`configs/experiment/*.yaml` → `TrainingDataset` → `CDiT` → `create_diffusion` → `weights/checkpoints/&lt;run_name&gt;`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342900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3429000"/>
            <a:ext cx="73152" cy="123444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0288" y="3557016"/>
            <a:ext cx="29992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Prediction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3904487"/>
            <a:ext cx="2999232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`infer.py` loads EMA checkpoint → generates GT or predictions → writes frames under eval artifact root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429000"/>
            <a:ext cx="32918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92440" y="3429000"/>
            <a:ext cx="73152" cy="123444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7888" y="3557016"/>
            <a:ext cx="29992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Planning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3904487"/>
            <a:ext cx="2999232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`plan_eval.py` → CEM action sampling → world model rollout → ATE/RPE metrics 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486400"/>
            <a:ext cx="102412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181F2A"/>
                </a:solidFill>
                <a:latin typeface="Noto Sans CJK KR"/>
              </a:defRPr>
            </a:pPr>
            <a:r>
              <a:t>핵심 패턴: config는 실험 정의, scripts는 실행 버튼, src는 재사용 가능한 구현입니다.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3.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데이터 단위: trajectory sample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91109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41732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545336"/>
            <a:ext cx="1618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trajectory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92808"/>
            <a:ext cx="161848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0.jpg ... T.jpg</a:t>
            </a:r>
            <a:br/>
            <a:r>
              <a:t>traj_data.pkl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42032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71216" y="1417320"/>
            <a:ext cx="191109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71216" y="1417320"/>
            <a:ext cx="73152" cy="141732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6664" y="1545336"/>
            <a:ext cx="1618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1892808"/>
            <a:ext cx="161848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curr_time 이전</a:t>
            </a:r>
            <a:br/>
            <a:r>
              <a:t>context_size frames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18888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48072" y="1417320"/>
            <a:ext cx="191109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48072" y="1417320"/>
            <a:ext cx="73152" cy="141732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1545336"/>
            <a:ext cx="1618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892808"/>
            <a:ext cx="161848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future offset</a:t>
            </a:r>
            <a:br/>
            <a:r>
              <a:t>min/max distance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95744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24928" y="1417320"/>
            <a:ext cx="191109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24928" y="1417320"/>
            <a:ext cx="73152" cy="141732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376" y="1545336"/>
            <a:ext cx="1618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1892808"/>
            <a:ext cx="161848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local x, y, yaw</a:t>
            </a:r>
            <a:br/>
            <a:r>
              <a:t>normalized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72600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01784" y="1417320"/>
            <a:ext cx="1911096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01784" y="1417320"/>
            <a:ext cx="73152" cy="141732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57232" y="1545336"/>
            <a:ext cx="1618488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1892808"/>
            <a:ext cx="1618488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current/goal/context_mean</a:t>
            </a:r>
            <a:br/>
            <a:r>
              <a:t>optional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337560"/>
            <a:ext cx="3474720" cy="1874519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337560"/>
            <a:ext cx="73152" cy="1874519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465576"/>
            <a:ext cx="31821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학습 샘플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813048"/>
            <a:ext cx="3182112" cy="130759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`obs_image`: context frames + goal frames</a:t>
            </a:r>
            <a:br/>
            <a:r>
              <a:t>`goal_pos`: local coordinate action target</a:t>
            </a:r>
            <a:br/>
            <a:r>
              <a:t>`rel_time`: goal offset / 128</a:t>
            </a:r>
            <a:br/>
            <a:r>
              <a:t>`text_emb`: optional CLIP vector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337560"/>
            <a:ext cx="3474720" cy="1874519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337560"/>
            <a:ext cx="73152" cy="1874519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3465576"/>
            <a:ext cx="31821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데이터셋 코드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3813048"/>
            <a:ext cx="3182112" cy="130759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`src/data/datasets/base_dataset.py`</a:t>
            </a:r>
            <a:br/>
            <a:r>
              <a:t>index 생성, trajectory 로드, action 계산, text cache lookup</a:t>
            </a:r>
            <a:br/>
            <a:br/>
            <a:r>
              <a:t>`src/data/datasets/train_dataset.py`</a:t>
            </a:r>
            <a:br/>
            <a:r>
              <a:t>random goal offset sampling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337560"/>
            <a:ext cx="3474720" cy="1874519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3337560"/>
            <a:ext cx="73152" cy="1874519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8" y="3465576"/>
            <a:ext cx="31821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평가 데이터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813048"/>
            <a:ext cx="3182112" cy="130759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time/rollout/planning은 predefined index를 사용해 같은 샘플 순서로 비교합니다.</a:t>
            </a:r>
            <a:br/>
            <a:r>
              <a:t>예: `data/splits/recon/test/navigation_eval.pkl`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3.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RECON + Text Pipeline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5621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114300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Raw RECON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92808"/>
            <a:ext cx="1269491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HDF5 / frames</a:t>
            </a:r>
            <a:br/>
            <a:r>
              <a:t>pose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1596" y="188823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0780" y="1417320"/>
            <a:ext cx="15621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30780" y="1417320"/>
            <a:ext cx="73152" cy="114300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622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1fps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6228" y="1892808"/>
            <a:ext cx="1269491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caption 대상</a:t>
            </a:r>
            <a:br/>
            <a:r>
              <a:t>frame subset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29455" y="188823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8640" y="1417320"/>
            <a:ext cx="15621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8640" y="1417320"/>
            <a:ext cx="73152" cy="114300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408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Qwen2-VL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4088" y="1892808"/>
            <a:ext cx="1269491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scene caption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7316" y="188823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6500" y="1417320"/>
            <a:ext cx="15621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1417320"/>
            <a:ext cx="73152" cy="114300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1948" y="1892808"/>
            <a:ext cx="1269491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boilerplate 제거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85176" y="188823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14360" y="1417320"/>
            <a:ext cx="15621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14360" y="1417320"/>
            <a:ext cx="73152" cy="114300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980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CLIP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9808" y="1892808"/>
            <a:ext cx="1269491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text embedding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813036" y="188823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42220" y="1417320"/>
            <a:ext cx="15621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2220" y="1417320"/>
            <a:ext cx="73152" cy="114300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766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dense 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97668" y="1892808"/>
            <a:ext cx="1269491" cy="5760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trajectory .npz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3154680"/>
            <a:ext cx="6675120" cy="192024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`scripts/preprocess/recon/`: RECON export/render helpers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`scripts/preprocess/text/`: Qwen caption, cleaning, CLIP embedding, dense alignment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`datasets/derived/phase1_text_embeds_dense/recon_all_raw_rel`: 학습 시 읽는 dense text cache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`text_conditioning.enabled: True`이면 dataset loader가 text embedding을 batch에 추가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09560" y="306324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560" y="3063240"/>
            <a:ext cx="73152" cy="205740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8" y="3191256"/>
            <a:ext cx="31363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왜 offline인가?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3538728"/>
            <a:ext cx="3136392" cy="1490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학습/평가 루프 안에서 VLM을 돌리면 너무 느립니다. caption과 embedding을 미리 만들어 cache하면 기존 NWM 실행 속도와 구조를 크게 깨지 않고 semantic signal을 추가할 수 있습니다.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4.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무엇을 학습하는가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2286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700" b="1">
                <a:solidFill>
                  <a:srgbClr val="2563A2"/>
                </a:solidFill>
                <a:latin typeface="Noto Sans CJK KR"/>
              </a:defRPr>
            </a:pPr>
            <a:r>
              <a:t>학습 목표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394960" cy="205740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100">
                <a:solidFill>
                  <a:srgbClr val="EEF2F7"/>
                </a:solidFill>
                <a:latin typeface="DejaVu Sans Mono"/>
              </a:defRPr>
            </a:pPr>
            <a:r>
              <a:t>given: context frames, action(x,y,yaw), relative time, optional text</a:t>
            </a:r>
            <a:br/>
            <a:r>
              <a:t>target: future frame latent z_goal</a:t>
            </a:r>
            <a:br/>
            <a:r>
              <a:t>diffusion: add noise to z_goal at timestep t</a:t>
            </a:r>
            <a:br/>
            <a:r>
              <a:t>model: predict denoising target conditioned on inputs</a:t>
            </a:r>
            <a:br/>
            <a:br/>
            <a:r>
              <a:t>learn p(z_future | z_context, action, rel_time, text)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1600200"/>
            <a:ext cx="4206240" cy="132588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600200"/>
            <a:ext cx="73152" cy="132588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84848" y="1728216"/>
            <a:ext cx="39136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모델이 직접 배우는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84848" y="2075688"/>
            <a:ext cx="3913631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미래 이미지 latent의 denoising</a:t>
            </a:r>
            <a:br/>
            <a:r>
              <a:t>관측과 행동 사이의 시각적 dynamics</a:t>
            </a:r>
            <a:br/>
            <a:r>
              <a:t>시간 offset에 따른 변화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154680"/>
            <a:ext cx="4206240" cy="1325880"/>
          </a:xfrm>
          <a:prstGeom prst="roundRect">
            <a:avLst/>
          </a:prstGeom>
          <a:solidFill>
            <a:srgbClr val="FAE6E4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3154680"/>
            <a:ext cx="73152" cy="1325880"/>
          </a:xfrm>
          <a:prstGeom prst="rect">
            <a:avLst/>
          </a:prstGeom>
          <a:solidFill>
            <a:srgbClr val="B74740"/>
          </a:solidFill>
          <a:ln>
            <a:solidFill>
              <a:srgbClr val="B74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84848" y="3282696"/>
            <a:ext cx="39136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모델이 직접 배우지 않는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3630168"/>
            <a:ext cx="3913631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최적 policy</a:t>
            </a:r>
            <a:br/>
            <a:r>
              <a:t>reward function</a:t>
            </a:r>
            <a:br/>
            <a:r>
              <a:t>장기 안전성 보장</a:t>
            </a:r>
            <a:br/>
            <a:r>
              <a:t>CEM hyperparameter 자체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57800"/>
            <a:ext cx="102412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181F2A"/>
                </a:solidFill>
                <a:latin typeface="Noto Sans CJK KR"/>
              </a:defRPr>
            </a:pPr>
            <a:r>
              <a:t>즉, world model은 “행동의 결과를 상상하는 모델”이고 planner는 그 상상을 이용해 행동을 고릅니다.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4.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Latent Diffusion 구조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73152" cy="141732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28216"/>
            <a:ext cx="15361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153619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RGB frame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96896" y="220827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6002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0" y="1600200"/>
            <a:ext cx="73152" cy="141732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1728216"/>
            <a:ext cx="15361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VAE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075688"/>
            <a:ext cx="153619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latent z</a:t>
            </a:r>
            <a:br/>
            <a:r>
              <a:t>x / 8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91456" y="220827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6002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600200"/>
            <a:ext cx="73152" cy="141732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1728216"/>
            <a:ext cx="15361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DDPM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6088" y="2075688"/>
            <a:ext cx="153619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z_t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86016" y="220827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0" y="16002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0" y="1600200"/>
            <a:ext cx="73152" cy="141732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1728216"/>
            <a:ext cx="15361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075688"/>
            <a:ext cx="153619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denoise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180576" y="220827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09760" y="1600200"/>
            <a:ext cx="1828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09760" y="1600200"/>
            <a:ext cx="73152" cy="141732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65208" y="1728216"/>
            <a:ext cx="15361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VAE decoder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2075688"/>
            <a:ext cx="153619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pred frame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703320"/>
            <a:ext cx="3246120" cy="141732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" y="3703320"/>
            <a:ext cx="73152" cy="141732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" y="3831335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VAE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4178808"/>
            <a:ext cx="295351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`load_vae()`로 StabilityAI VAE를 로드합니다.</a:t>
            </a:r>
            <a:br/>
            <a:r>
              <a:t>이미지는 latent로 인코딩되고 `0.18215` scaling을 적용합니다.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3703320"/>
            <a:ext cx="3246120" cy="141732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80560" y="3703320"/>
            <a:ext cx="73152" cy="141732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36008" y="3831335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Diffusion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36008" y="4178808"/>
            <a:ext cx="295351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`create_diffusion()`은 학습 시 1000 step DDPM, 추론/평가에서는 respacing된 sampling step을 사용합니다.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3703320"/>
            <a:ext cx="3246120" cy="1417320"/>
          </a:xfrm>
          <a:prstGeom prst="roundRect">
            <a:avLst/>
          </a:prstGeom>
          <a:solidFill>
            <a:srgbClr val="E1F2E8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38160" y="3703320"/>
            <a:ext cx="73152" cy="141732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3831335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장점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4178808"/>
            <a:ext cx="295351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픽셀 공간보다 latent 공간이 작아서 학습/추론 비용이 줄고, CDiT가 spatial patch token을 다루기 쉬워집니다.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4.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CDiT 전체 아키텍처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947672" cy="141732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3152" cy="141732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1655063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Noisy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47088"/>
            <a:ext cx="1655063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future latent</a:t>
            </a:r>
            <a:br/>
            <a:r>
              <a:t>patch tokens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87168" y="197967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6352" y="1371600"/>
            <a:ext cx="1947672" cy="141732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16352" y="1371600"/>
            <a:ext cx="73152" cy="141732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499616"/>
            <a:ext cx="1655063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847088"/>
            <a:ext cx="1655063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past latent tokens</a:t>
            </a:r>
            <a:br/>
            <a:r>
              <a:t>cross-attn memory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00600" y="197967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9784" y="1371600"/>
            <a:ext cx="1947672" cy="141732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9784" y="1371600"/>
            <a:ext cx="73152" cy="141732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1499616"/>
            <a:ext cx="1655063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Condition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1847088"/>
            <a:ext cx="1655063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t + action + rel_t + text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14032" y="197967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43216" y="1371600"/>
            <a:ext cx="1947672" cy="1417320"/>
          </a:xfrm>
          <a:prstGeom prst="roundRect">
            <a:avLst/>
          </a:prstGeom>
          <a:solidFill>
            <a:srgbClr val="E1F2E8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43216" y="1371600"/>
            <a:ext cx="73152" cy="141732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4" y="1499616"/>
            <a:ext cx="1655063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CDiT blocks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98664" y="1847088"/>
            <a:ext cx="1655063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self-attn</a:t>
            </a:r>
            <a:br/>
            <a:r>
              <a:t>cross-attn</a:t>
            </a:r>
            <a:br/>
            <a:r>
              <a:t>MLP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27463" y="197967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56648" y="1371600"/>
            <a:ext cx="1947672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56648" y="1371600"/>
            <a:ext cx="73152" cy="141732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12096" y="1499616"/>
            <a:ext cx="1655063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Final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12096" y="1847088"/>
            <a:ext cx="1655063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pred noise/sigma</a:t>
            </a:r>
            <a:br/>
            <a:r>
              <a:t>unpatchify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429000"/>
            <a:ext cx="3749039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429000"/>
            <a:ext cx="73152" cy="1874519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557016"/>
            <a:ext cx="34564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Model variants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904487"/>
            <a:ext cx="3456432" cy="130759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CDiT-S/2: 12 layers, 384 hidden, 6 heads</a:t>
            </a:r>
            <a:br/>
            <a:r>
              <a:t>CDiT-B/2: 12 layers, 768 hidden, 12 heads</a:t>
            </a:r>
            <a:br/>
            <a:r>
              <a:t>CDiT-L/2: 24 layers, 1024 hidden, 16 heads</a:t>
            </a:r>
            <a:br/>
            <a:r>
              <a:t>CDiT-XL/2: 28 layers, 1152 hidden, 16 heads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342900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754880" y="3429000"/>
            <a:ext cx="73152" cy="1874519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10328" y="355701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핵심 conditioning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10328" y="3904487"/>
            <a:ext cx="2953512" cy="130759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`TimestepEmbedder`: diffusion timestep</a:t>
            </a:r>
            <a:br/>
            <a:r>
              <a:t>`ActionEmbedder`: x/y/yaw를 각각 embedding</a:t>
            </a:r>
            <a:br/>
            <a:r>
              <a:t>`time_embedder`: relative future offset</a:t>
            </a:r>
            <a:br/>
            <a:r>
              <a:t>`text_proj`: CLIP text vector → hidden size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429000"/>
            <a:ext cx="324612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3429000"/>
            <a:ext cx="73152" cy="1874519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85048" y="355701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출력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3904487"/>
            <a:ext cx="2953512" cy="130759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`learn_sigma=True`이면 output channel은 latent channel의 2배입니다.</a:t>
            </a:r>
            <a:br/>
            <a:r>
              <a:t>final layer 후 unpatchify하여 diffusion loss에 들어갈 prediction을 만듭니다.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4.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CDiTBlock 내부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14600" cy="109728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73152" cy="109728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36776"/>
            <a:ext cx="22219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1. Self-Attention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222199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noisy target patch token끼리 spatial relation을 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1508760"/>
            <a:ext cx="2514600" cy="109728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508760"/>
            <a:ext cx="73152" cy="109728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13048" y="1636776"/>
            <a:ext cx="22219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2. Cross-Attention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1984248"/>
            <a:ext cx="222199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target token이 context frame token을 key/value로 참조합니다.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508760"/>
            <a:ext cx="2514600" cy="109728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508760"/>
            <a:ext cx="73152" cy="109728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1636776"/>
            <a:ext cx="22219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3. 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1984248"/>
            <a:ext cx="222199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token별 feature를 비선형 변환합니다.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508760"/>
            <a:ext cx="1828800" cy="1097280"/>
          </a:xfrm>
          <a:prstGeom prst="roundRect">
            <a:avLst/>
          </a:prstGeom>
          <a:solidFill>
            <a:srgbClr val="E1F2E8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09760" y="1508760"/>
            <a:ext cx="73152" cy="109728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65208" y="1636776"/>
            <a:ext cx="15361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4. adaLN-Zero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5208" y="1984248"/>
            <a:ext cx="153619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condition vector c가 각 sub-layer의 shift/scale/gate를 만듭니다.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46120" y="2057400"/>
            <a:ext cx="384048" cy="0"/>
          </a:xfrm>
          <a:prstGeom prst="line">
            <a:avLst/>
          </a:prstGeom>
          <a:ln w="12700">
            <a:solidFill>
              <a:srgbClr val="656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172200" y="2057400"/>
            <a:ext cx="384048" cy="0"/>
          </a:xfrm>
          <a:prstGeom prst="line">
            <a:avLst/>
          </a:prstGeom>
          <a:ln w="12700">
            <a:solidFill>
              <a:srgbClr val="656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098280" y="2057400"/>
            <a:ext cx="384048" cy="0"/>
          </a:xfrm>
          <a:prstGeom prst="line">
            <a:avLst/>
          </a:prstGeom>
          <a:ln w="12700">
            <a:solidFill>
              <a:srgbClr val="656F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3703320"/>
            <a:ext cx="128016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6F7D"/>
                </a:solidFill>
                <a:latin typeface="Noto Sans CJK KR"/>
              </a:defRPr>
            </a:pPr>
            <a:r>
              <a:t>block input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069080"/>
            <a:ext cx="4983480" cy="100584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00">
                <a:solidFill>
                  <a:srgbClr val="EEF2F7"/>
                </a:solidFill>
                <a:latin typeface="DejaVu Sans Mono"/>
              </a:defRPr>
            </a:pPr>
            <a:r>
              <a:t>x      = noisy target tokens</a:t>
            </a:r>
            <a:br/>
            <a:r>
              <a:t>x_cond = context frame tokens</a:t>
            </a:r>
            <a:br/>
            <a:r>
              <a:t>c      = t_embed + action_embed + rel_time_embed (+ text_proj)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703320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100" b="1">
                <a:solidFill>
                  <a:srgbClr val="656F7D"/>
                </a:solidFill>
                <a:latin typeface="Noto Sans CJK KR"/>
              </a:defRPr>
            </a:pPr>
            <a:r>
              <a:t>block 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069080"/>
            <a:ext cx="4251960" cy="100584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1000">
                <a:solidFill>
                  <a:srgbClr val="EEF2F7"/>
                </a:solidFill>
                <a:latin typeface="DejaVu Sans Mono"/>
              </a:defRPr>
            </a:pPr>
            <a:r>
              <a:t>x = x + gated self-attn</a:t>
            </a:r>
            <a:br/>
            <a:r>
              <a:t>x = x + gated cross-attn(x_cond)</a:t>
            </a:r>
            <a:br/>
            <a:r>
              <a:t>x = x + gated MLP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4. 모델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Text Conditioning은 어디에 들어가나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8470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545336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caption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892808"/>
            <a:ext cx="1554480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visible scene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69464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98648" y="1417320"/>
            <a:ext cx="18470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98648" y="1417320"/>
            <a:ext cx="73152" cy="141732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54096" y="1545336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CLIP text 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1892808"/>
            <a:ext cx="1554480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embedding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82312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11496" y="1417320"/>
            <a:ext cx="18470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11496" y="1417320"/>
            <a:ext cx="73152" cy="141732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1545336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text_proj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6944" y="1892808"/>
            <a:ext cx="1554480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hidden size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95160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24344" y="1417320"/>
            <a:ext cx="18470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24344" y="1417320"/>
            <a:ext cx="73152" cy="141732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9792" y="1545336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condition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9792" y="1892808"/>
            <a:ext cx="1554480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t + action + rel_t + text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208008" y="202539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37192" y="1417320"/>
            <a:ext cx="184708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37192" y="1417320"/>
            <a:ext cx="73152" cy="141732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1545336"/>
            <a:ext cx="1554480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adaLN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1892808"/>
            <a:ext cx="1554480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all CDiT blocks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3429000"/>
            <a:ext cx="3154680" cy="146304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3429000"/>
            <a:ext cx="73152" cy="14630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557016"/>
            <a:ext cx="286207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선택 가능한 source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" y="3904487"/>
            <a:ext cx="2862072" cy="8961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`current`: 현재 프레임 caption</a:t>
            </a:r>
            <a:br/>
            <a:r>
              <a:t>`goal`: goal frame caption</a:t>
            </a:r>
            <a:br/>
            <a:r>
              <a:t>`context_mean`: context caption 평균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840" y="3429000"/>
            <a:ext cx="3154680" cy="146304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34840" y="3429000"/>
            <a:ext cx="73152" cy="146304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90288" y="3557016"/>
            <a:ext cx="286207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현재 주요 설정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90288" y="3904487"/>
            <a:ext cx="2862072" cy="8961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`text_conditioning.enabled: True`</a:t>
            </a:r>
            <a:br/>
            <a:r>
              <a:t>`embedding_root: datasets/derived/.../recon_all_raw_rel`</a:t>
            </a:r>
            <a:br/>
            <a:r>
              <a:t>`condition_source: current`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3429000"/>
            <a:ext cx="3154680" cy="146304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3429000"/>
            <a:ext cx="73152" cy="146304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47888" y="3557016"/>
            <a:ext cx="286207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해석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3904487"/>
            <a:ext cx="2862072" cy="8961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텍스트는 token sequence로 cross-attention되는 방식이 아니라, diffusion denoising의 global condition을 보정하는 semantic prior입니다.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5. 학습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Training Loop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12344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batch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context+goal</a:t>
            </a:r>
            <a:br/>
            <a:r>
              <a:t>frames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1596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078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30780" y="1417320"/>
            <a:ext cx="73152" cy="123444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622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VAE 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622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latent tensor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29455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864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8640" y="1417320"/>
            <a:ext cx="73152" cy="123444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408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sample 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408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diffusion step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7316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650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1417320"/>
            <a:ext cx="73152" cy="123444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CDiT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194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training_losses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85176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1436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14360" y="1417320"/>
            <a:ext cx="73152" cy="123444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980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optimizer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980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AdamW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813036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4222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2220" y="1417320"/>
            <a:ext cx="73152" cy="12344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766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9766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eval copy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3063240"/>
            <a:ext cx="10287000" cy="205740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DDP 환경에서 rank별 DataLoader를 돌리고, `DistributedSampler`로 shuffle을 맞춥니다.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context frame은 conditioning latent가 되고, goal frame latent는 diffusion target이 됩니다.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`diffusion.training_losses(model, x_start, t, model_kwargs)`가 핵심 loss를 계산합니다.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EMA 모델은 checkpoint에 함께 저장되고, inference/evaluation에서 EMA weight를 사용합니다.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선택적으로 bfloat16, GradScaler, torch.compile, WandB logging을 사용합니다.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5532120"/>
            <a:ext cx="10332720" cy="41148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900">
                <a:solidFill>
                  <a:srgbClr val="EEF2F7"/>
                </a:solidFill>
                <a:latin typeface="DejaVu Sans Mono"/>
              </a:defRPr>
            </a:pPr>
            <a:r>
              <a:t>python scripts/train.py --config configs/experiment/nwm_cdit_b_recon_raw_text_dense.yaml --ckpt-every 2000 --eval-every 10000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5. 학습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Config를 읽는 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532120" cy="429768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800">
                <a:solidFill>
                  <a:srgbClr val="EEF2F7"/>
                </a:solidFill>
                <a:latin typeface="DejaVu Sans Mono"/>
              </a:defRPr>
            </a:pPr>
            <a:r>
              <a:t>run_name: nwm_cdit_b_recon_raw_text_dense</a:t>
            </a:r>
            <a:br/>
            <a:r>
              <a:t>model: CDiT-B/2</a:t>
            </a:r>
            <a:br/>
            <a:r>
              <a:t>image_size: 224</a:t>
            </a:r>
            <a:br/>
            <a:r>
              <a:t>context_size: 4</a:t>
            </a:r>
            <a:br/>
            <a:r>
              <a:t>len_traj_pred: 64</a:t>
            </a:r>
            <a:br/>
            <a:r>
              <a:t>lr: 8e-5</a:t>
            </a:r>
            <a:br/>
            <a:r>
              <a:t>from_checkpoint: weights/checkpoints/nwm_cdit_b/0100000.pth.tar</a:t>
            </a:r>
            <a:br/>
            <a:r>
              <a:t>text_conditioning:</a:t>
            </a:r>
            <a:br/>
            <a:r>
              <a:t>  enabled: True</a:t>
            </a:r>
            <a:br/>
            <a:r>
              <a:t>  embedding_root: datasets/derived/phase1_text_embeds_dense/recon_all_raw_rel</a:t>
            </a:r>
            <a:br/>
            <a:r>
              <a:t>  condition_source: current</a:t>
            </a:r>
            <a:br/>
            <a:r>
              <a:t>datasets:</a:t>
            </a:r>
            <a:br/>
            <a:r>
              <a:t>  recon:</a:t>
            </a:r>
            <a:br/>
            <a:r>
              <a:t>    data_folder: datasets/recon_raw/recon_release</a:t>
            </a:r>
            <a:br/>
            <a:r>
              <a:t>    train: data/splits/recon/train/</a:t>
            </a:r>
            <a:br/>
            <a:r>
              <a:t>    test: data/splits/recon/test/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29400" y="1600200"/>
            <a:ext cx="434340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1600200"/>
            <a:ext cx="73152" cy="292608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84848" y="1728216"/>
            <a:ext cx="40507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해석 포인트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848" y="2075688"/>
            <a:ext cx="4050791" cy="23591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`model`과 `image_size`가 architecture와 latent grid size를 결정합니다.</a:t>
            </a:r>
            <a:br/>
            <a:br/>
            <a:r>
              <a:t>`from_checkpoint`는 warm-start 여부입니다.</a:t>
            </a:r>
            <a:br/>
            <a:br/>
            <a:r>
              <a:t>`text_conditioning` block이 있으면 model 생성 시 `text_dim`이 들어가고 dataset이 text cache를 로드합니다.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6. 추론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Inference: time prediction vs rollout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4754880" cy="205740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73152" cy="205740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636776"/>
            <a:ext cx="446227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Time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4462272" cy="1490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1s, 2s, 4s, 8s, 16s 같은 특정 미래 offset의 frame을 한 번에 예측합니다.</a:t>
            </a:r>
            <a:br/>
            <a:br/>
            <a:r>
              <a:t>GT와 직접 비교하기 쉽고 horizon별 품질을 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4754880" cy="205740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73152" cy="205740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636776"/>
            <a:ext cx="446227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Autoregressive rollout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1984248"/>
            <a:ext cx="4462272" cy="1490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한 step 예측 결과를 다음 context로 다시 넣어 trajectory를 이어갑니다.</a:t>
            </a:r>
            <a:br/>
            <a:br/>
            <a:r>
              <a:t>누적 오류, drift, 장기 안정성을 보기에 좋습니다.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251960"/>
            <a:ext cx="22174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4251960"/>
            <a:ext cx="73152" cy="109728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379976"/>
            <a:ext cx="19248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4727448"/>
            <a:ext cx="192481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obs frames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51276" y="470001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680460" y="4251960"/>
            <a:ext cx="22174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80460" y="4251960"/>
            <a:ext cx="73152" cy="109728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35908" y="4379976"/>
            <a:ext cx="19248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5908" y="4727448"/>
            <a:ext cx="192481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next frame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34456" y="470001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63640" y="4251960"/>
            <a:ext cx="22174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251960"/>
            <a:ext cx="73152" cy="109728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4379976"/>
            <a:ext cx="19248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append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727448"/>
            <a:ext cx="192481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new context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517636" y="470001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46820" y="4251960"/>
            <a:ext cx="22174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846820" y="4251960"/>
            <a:ext cx="73152" cy="109728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2268" y="4379976"/>
            <a:ext cx="19248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repeat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2268" y="4727448"/>
            <a:ext cx="192481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rollout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7.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Prediction Metrics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291840" cy="150876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73152" cy="150876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36776"/>
            <a:ext cx="29992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LPIPS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2999232" cy="94183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VGG/AlexNet feature 공간에서 perceptual distance를 계산합니다. 낮을수록 GT와 지각적으로 비슷합니다.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91840" cy="150876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50876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36776"/>
            <a:ext cx="29992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DreamSim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84248"/>
            <a:ext cx="2999232" cy="94183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인간 유사도 판단에 맞춘 feature 기반 거리입니다. 낮을수록 좋습니다.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291840" cy="150876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50876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36776"/>
            <a:ext cx="299923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FID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84248"/>
            <a:ext cx="2999232" cy="94183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예측 이미지 분포와 GT 이미지 분포의 feature statistics 차이를 봅니다. 낮을수록 좋습니다.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9966960" cy="118872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`infer.py --gt 1`로 GT frame set을 먼저 저장합니다.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`infer.py` prediction mode로 모델 결과를 같은 구조에 저장합니다.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`evaluate.py`가 GT directory와 experiment directory를 비교해 JSON metric을 씁니다.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5440680"/>
            <a:ext cx="9966960" cy="384048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900">
                <a:solidFill>
                  <a:srgbClr val="EEF2F7"/>
                </a:solidFill>
                <a:latin typeface="DejaVu Sans Mono"/>
              </a:defRPr>
            </a:pPr>
            <a:r>
              <a:t>python scripts/evaluate.py --datasets recon --gt_dir &lt;gt&gt; --exp_dir &lt;pred&gt; --eval_types time,rollout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7.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Planning Evaluation: CEM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73152" cy="12344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sample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mu/sigma에서 N개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01596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3078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30780" y="1417320"/>
            <a:ext cx="73152" cy="123444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622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rollout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622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world model 예측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29455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5864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58640" y="1417320"/>
            <a:ext cx="73152" cy="123444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408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408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goal image LPIPS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7316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650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1417320"/>
            <a:ext cx="73152" cy="123444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top-k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194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좋은 후보 선택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885176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1436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14360" y="1417320"/>
            <a:ext cx="73152" cy="123444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980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refit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980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mu/sigma 갱신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813036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42220" y="1417320"/>
            <a:ext cx="15621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42220" y="1417320"/>
            <a:ext cx="73152" cy="12344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7668" y="1545336"/>
            <a:ext cx="12694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97668" y="1892808"/>
            <a:ext cx="126949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ATE/RPE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3154680"/>
            <a:ext cx="4663440" cy="1691640"/>
          </a:xfrm>
          <a:prstGeom prst="roundRect">
            <a:avLst/>
          </a:prstGeom>
          <a:solidFill>
            <a:srgbClr val="FAE6E4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3154680"/>
            <a:ext cx="73152" cy="1691640"/>
          </a:xfrm>
          <a:prstGeom prst="rect">
            <a:avLst/>
          </a:prstGeom>
          <a:solidFill>
            <a:srgbClr val="B74740"/>
          </a:solidFill>
          <a:ln>
            <a:solidFill>
              <a:srgbClr val="B74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3282696"/>
            <a:ext cx="43708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CEM은 평가 방법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" y="3630168"/>
            <a:ext cx="4370831" cy="11247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CEM hyperparameter를 바꾸는 것은 모델 재학습이 아닙니다. checkpoint는 그대로 두고, evaluation/planning stage에서 후보 action 탐색 강도를 바꾸는 것입니다.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89320" y="3154680"/>
            <a:ext cx="4663440" cy="169164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3154680"/>
            <a:ext cx="73152" cy="16916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44768" y="3282696"/>
            <a:ext cx="43708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Paper-style local setting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3630168"/>
            <a:ext cx="4370831" cy="11247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`N120/K5/rep3/OPT1`</a:t>
            </a:r>
            <a:br/>
            <a:r>
              <a:t>`num_samples=120`</a:t>
            </a:r>
            <a:br/>
            <a:r>
              <a:t>`topk=5`</a:t>
            </a:r>
            <a:br/>
            <a:r>
              <a:t>`num_repeat_eval=3`</a:t>
            </a:r>
            <a:br/>
            <a:r>
              <a:t>`opt_steps=1`</a:t>
            </a:r>
            <a:br/>
            <a:r>
              <a:t>`rollout_stride=1`</a:t>
            </a:r>
            <a:br/>
            <a:r>
              <a:t>`batch_size=1`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7. 평가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Trajectory Metrics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246120" cy="164592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73152" cy="164592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63677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84248"/>
            <a:ext cx="2953512" cy="10789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Absolute Trajectory Error</a:t>
            </a:r>
            <a:br/>
            <a:r>
              <a:t>전체 predicted trajectory가 GT trajectory와 얼마나 떨어져 있는지 봅니다. 낮을수록 좋습니다.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508760"/>
            <a:ext cx="3246120" cy="164592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508760"/>
            <a:ext cx="73152" cy="164592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63677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RPE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84248"/>
            <a:ext cx="2953512" cy="10789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Relative Pose Error</a:t>
            </a:r>
            <a:br/>
            <a:r>
              <a:t>인접 pose 변화의 상대 오차를 봅니다. local motion consistency를 반영합니다.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508760"/>
            <a:ext cx="3246120" cy="164592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508760"/>
            <a:ext cx="73152" cy="164592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63677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Pos/Yaw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84248"/>
            <a:ext cx="2953512" cy="10789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최종 위치 error와 yaw error입니다. 실제 navigation에서 goal 근처로 가는지를 보완적으로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69080"/>
            <a:ext cx="10058400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181F2A"/>
                </a:solidFill>
                <a:latin typeface="Noto Sans CJK KR"/>
              </a:defRPr>
            </a:pPr>
            <a:r>
              <a:t>Planning metric은 prediction metric과 다릅니다. 이미지가 그럴듯해도 action trajectory가 틀릴 수 있고, 반대로 일부 이미지 artifact가 있어도 trajectory가 맞을 수 있습니다.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8.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현재 Paper-Style CEM 결과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20</a:t>
            </a:r>
          </a:p>
        </p:txBody>
      </p:sp>
      <p:pic>
        <p:nvPicPr>
          <p:cNvPr id="6" name="Picture 5" descr="paper_cem_cours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6035040" cy="24231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3977639"/>
          <a:ext cx="1065276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5460"/>
                <a:gridCol w="1775460"/>
                <a:gridCol w="1775460"/>
                <a:gridCol w="1775460"/>
                <a:gridCol w="1775460"/>
                <a:gridCol w="1775460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81F2A"/>
                          </a:solidFill>
                          <a:latin typeface="Noto Sans CJK KR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E2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81F2A"/>
                          </a:solidFill>
                          <a:latin typeface="Noto Sans CJK KR"/>
                        </a:defRPr>
                      </a:pPr>
                      <a:r>
                        <a:t>ATE</a:t>
                      </a:r>
                    </a:p>
                  </a:txBody>
                  <a:tcPr>
                    <a:solidFill>
                      <a:srgbClr val="E2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81F2A"/>
                          </a:solidFill>
                          <a:latin typeface="Noto Sans CJK KR"/>
                        </a:defRPr>
                      </a:pPr>
                      <a:r>
                        <a:t>RPE</a:t>
                      </a:r>
                    </a:p>
                  </a:txBody>
                  <a:tcPr>
                    <a:solidFill>
                      <a:srgbClr val="E2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81F2A"/>
                          </a:solidFill>
                          <a:latin typeface="Noto Sans CJK KR"/>
                        </a:defRPr>
                      </a:pPr>
                      <a:r>
                        <a:t>ATE vs N32</a:t>
                      </a:r>
                    </a:p>
                  </a:txBody>
                  <a:tcPr>
                    <a:solidFill>
                      <a:srgbClr val="E2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81F2A"/>
                          </a:solidFill>
                          <a:latin typeface="Noto Sans CJK KR"/>
                        </a:defRPr>
                      </a:pPr>
                      <a:r>
                        <a:t>RPE vs N32</a:t>
                      </a:r>
                    </a:p>
                  </a:txBody>
                  <a:tcPr>
                    <a:solidFill>
                      <a:srgbClr val="E2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81F2A"/>
                          </a:solidFill>
                          <a:latin typeface="Noto Sans CJK KR"/>
                        </a:defRPr>
                      </a:pPr>
                      <a:r>
                        <a:t>ATE vs Paper</a:t>
                      </a:r>
                    </a:p>
                  </a:txBody>
                  <a:tcPr>
                    <a:solidFill>
                      <a:srgbClr val="E2EDF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B 224 No-Text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1.130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0.348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-2.72%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-2.09%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B 224 Text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1.293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0.350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+2.56%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-1.17%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+14.42%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B 128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1.244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0.344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-1.28%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-3.99%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+10.12%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78040" y="1417320"/>
            <a:ext cx="38862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78040" y="1417320"/>
            <a:ext cx="73152" cy="21488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33488" y="1545336"/>
            <a:ext cx="35935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읽는 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1892808"/>
            <a:ext cx="3593592" cy="1581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B224 No-Text는 논문 NWM-only와 거의 동률입니다. B224 Text는 RPE는 거의 동률/소폭 개선이지만 ATE는 N32와 논문 기준보다 나쁩니다. B128 Text는 N32 대비 ATE/RPE 모두 개선이나 논문 ATE에는 못 미칩니다.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8.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Frame Prediction 결과를 읽는 관점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21</a:t>
            </a:r>
          </a:p>
        </p:txBody>
      </p:sp>
      <p:pic>
        <p:nvPicPr>
          <p:cNvPr id="6" name="Picture 5" descr="prediction_text_delt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5669280" cy="3063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1417320"/>
            <a:ext cx="4297680" cy="1325880"/>
          </a:xfrm>
          <a:prstGeom prst="roundRect">
            <a:avLst/>
          </a:prstGeom>
          <a:solidFill>
            <a:srgbClr val="E1F2E8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417320"/>
            <a:ext cx="73152" cy="132588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6288" y="1545336"/>
            <a:ext cx="400507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일반적 경향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1892808"/>
            <a:ext cx="4005072" cy="758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텍스트 조건은 low-resolution 또는 rollout처럼 semantic cue가 사라지기 쉬운 환경에서 LPIPS/DreamSim/FID를 낮추는 경향을 보였습니다.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063240"/>
            <a:ext cx="4297680" cy="164592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3063240"/>
            <a:ext cx="73152" cy="164592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3191256"/>
            <a:ext cx="400507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주의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3538728"/>
            <a:ext cx="4005072" cy="10789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frame prediction 개선이 planning ATE 개선으로 자동 연결되지는 않습니다. CEM score, action sampler, goal matching, 후반 trajectory outlier가 planning 결과를 바꿀 수 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8.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Planning 결과 해석: 왜 metric이 엇갈리나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669280" cy="237744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ATE는 전체 trajectory의 global drift에 민감합니다.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RPE는 local motion 변화의 상대 일관성에 더 가깝습니다.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B224 Text N120은 RPE가 N32보다 좋아졌지만, 후반 샘플의 큰 drift 때문에 ATE가 악화되었습니다.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따라서 “text가 navigation을 무조건 개선한다”가 아니라 “어떤 metric/setting에서 개선되는지”로 읽어야 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1463040"/>
            <a:ext cx="2057400" cy="1325880"/>
          </a:xfrm>
          <a:prstGeom prst="roundRect">
            <a:avLst/>
          </a:prstGeom>
          <a:solidFill>
            <a:srgbClr val="FAE6E4"/>
          </a:solidFill>
          <a:ln>
            <a:solidFill>
              <a:srgbClr val="FAE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09344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B74740"/>
                </a:solidFill>
                <a:latin typeface="Noto Sans CJK KR"/>
              </a:defRPr>
            </a:pPr>
            <a:r>
              <a:t>B224 Text 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01952"/>
            <a:ext cx="1783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200" b="1">
                <a:solidFill>
                  <a:srgbClr val="181F2A"/>
                </a:solidFill>
                <a:latin typeface="Noto Sans CJK KR"/>
              </a:defRPr>
            </a:pPr>
            <a:r>
              <a:t>1.293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14016"/>
            <a:ext cx="1783080" cy="3657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00" b="0">
                <a:solidFill>
                  <a:srgbClr val="343D49"/>
                </a:solidFill>
                <a:latin typeface="Noto Sans CJK KR"/>
              </a:defRPr>
            </a:pPr>
            <a:r>
              <a:t>N32 대비 +2.56%, paper 대비 +14.42%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60" y="1463040"/>
            <a:ext cx="2057400" cy="1325880"/>
          </a:xfrm>
          <a:prstGeom prst="roundRect">
            <a:avLst/>
          </a:prstGeom>
          <a:solidFill>
            <a:srgbClr val="E1F2E8"/>
          </a:solidFill>
          <a:ln>
            <a:solidFill>
              <a:srgbClr val="E1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609344"/>
            <a:ext cx="1783080" cy="2286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2F804E"/>
                </a:solidFill>
                <a:latin typeface="Noto Sans CJK KR"/>
              </a:defRPr>
            </a:pPr>
            <a:r>
              <a:t>B224 Text RPE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901952"/>
            <a:ext cx="1783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200" b="1">
                <a:solidFill>
                  <a:srgbClr val="181F2A"/>
                </a:solidFill>
                <a:latin typeface="Noto Sans CJK KR"/>
              </a:defRPr>
            </a:pPr>
            <a:r>
              <a:t>0.350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14016"/>
            <a:ext cx="1783080" cy="36575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900" b="0">
                <a:solidFill>
                  <a:srgbClr val="343D49"/>
                </a:solidFill>
                <a:latin typeface="Noto Sans CJK KR"/>
              </a:defRPr>
            </a:pPr>
            <a:r>
              <a:t>N32 대비 -1.17%, paper와 거의 동률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246120"/>
            <a:ext cx="43434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95160" y="3246120"/>
            <a:ext cx="73152" cy="128016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0608" y="3374136"/>
            <a:ext cx="40507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실험 결론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3721608"/>
            <a:ext cx="4050791" cy="71323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원 논문 CEM 설정으로 바꾸면 evaluation fairness는 좋아지지만, 모든 text-conditioned variant의 ATE가 자동으로 좋아지는 것은 아닙니다.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9.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End-to-End 실행 Workflow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15773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12344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545336"/>
            <a:ext cx="12847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92808"/>
            <a:ext cx="128473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dataset/splits</a:t>
            </a:r>
            <a:br/>
            <a:r>
              <a:t>text cache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71115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00300" y="1417320"/>
            <a:ext cx="15773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00300" y="1417320"/>
            <a:ext cx="73152" cy="123444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55748" y="1545336"/>
            <a:ext cx="12847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smoke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5748" y="1892808"/>
            <a:ext cx="128473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dataset load</a:t>
            </a:r>
            <a:br/>
            <a:r>
              <a:t>1-sample forward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14215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1417320"/>
            <a:ext cx="15773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417320"/>
            <a:ext cx="73152" cy="123444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1545336"/>
            <a:ext cx="12847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1892808"/>
            <a:ext cx="128473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CDiT checkpoint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57316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86500" y="1417320"/>
            <a:ext cx="15773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86500" y="1417320"/>
            <a:ext cx="73152" cy="123444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1948" y="1545336"/>
            <a:ext cx="12847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infer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1948" y="1892808"/>
            <a:ext cx="128473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GT / prediction frames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900415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0" y="1417320"/>
            <a:ext cx="15773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417320"/>
            <a:ext cx="73152" cy="123444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85048" y="1545336"/>
            <a:ext cx="12847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evaluate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8" y="1892808"/>
            <a:ext cx="128473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LPIPS/Dream/FID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843515" y="1933956"/>
            <a:ext cx="201168" cy="201168"/>
          </a:xfrm>
          <a:prstGeom prst="rightArrow">
            <a:avLst/>
          </a:prstGeom>
          <a:solidFill>
            <a:srgbClr val="656F7D"/>
          </a:solidFill>
          <a:ln>
            <a:solidFill>
              <a:srgbClr val="65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72700" y="1417320"/>
            <a:ext cx="1577339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72700" y="1417320"/>
            <a:ext cx="73152" cy="12344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28148" y="1545336"/>
            <a:ext cx="128473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1">
                <a:solidFill>
                  <a:srgbClr val="181F2A"/>
                </a:solidFill>
                <a:latin typeface="Noto Sans CJK KR"/>
              </a:defRPr>
            </a:pPr>
            <a:r>
              <a:t>plan_eval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28148" y="1892808"/>
            <a:ext cx="1284731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800" b="0">
                <a:solidFill>
                  <a:srgbClr val="343D49"/>
                </a:solidFill>
                <a:latin typeface="Noto Sans CJK KR"/>
              </a:defRPr>
            </a:pPr>
            <a:r>
              <a:t>ATE/RPE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3246120"/>
            <a:ext cx="10652760" cy="214884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700">
                <a:solidFill>
                  <a:srgbClr val="EEF2F7"/>
                </a:solidFill>
                <a:latin typeface="DejaVu Sans Mono"/>
              </a:defRPr>
            </a:pPr>
            <a:r>
              <a:t>docker build -t nwm:cu126 .</a:t>
            </a:r>
            <a:br/>
            <a:r>
              <a:t>./scripts/docker/nwm-start.sh</a:t>
            </a:r>
            <a:br/>
            <a:r>
              <a:t>./scripts/docker/nwm-run.sh "python tests/smoke/recon_smoke_test.py --skip-forward"</a:t>
            </a:r>
            <a:br/>
            <a:r>
              <a:t>./scripts/docker/nwm-run.sh "python scripts/train.py --config configs/experiment/nwm_cdit_b_recon_raw_text_dense.yaml"</a:t>
            </a:r>
            <a:br/>
            <a:r>
              <a:t>./scripts/docker/nwm-run.sh "python scripts/infer.py --exp configs/experiment/nwm_cdit_b_recon_raw_text_dense.yaml --datasets recon --eval_type time"</a:t>
            </a:r>
            <a:br/>
            <a:r>
              <a:t>./scripts/docker/nwm-run.sh "python scripts/evaluate.py --datasets recon --gt_dir &lt;gt&gt; --exp_dir &lt;pred&gt;"</a:t>
            </a:r>
            <a:br/>
            <a:r>
              <a:t>./scripts/docker/nwm-run.sh "python scripts/plan_eval.py --exp configs/experiment/nwm_cdit_b_recon_raw_text_dense.yaml --datasets recon --num_samples 120 --topk 5 --num_repeat_eval 3 --opt_steps 1"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9.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Smoke Test와 Debugging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429000" cy="182880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508760"/>
            <a:ext cx="73152" cy="182880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36776"/>
            <a:ext cx="31363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Dataset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3136392" cy="12618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`python tests/smoke/recon_smoke_test.py --skip-forward`</a:t>
            </a:r>
            <a:br/>
            <a:br/>
            <a:r>
              <a:t>이미지, trajectory metadata, action 계산, text cache shape를 먼저 확인합니다.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429000" cy="182880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82880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636776"/>
            <a:ext cx="31363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One forward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84248"/>
            <a:ext cx="3136392" cy="12618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`python tests/smoke/recon_smoke_test.py --horizon-steps 8`</a:t>
            </a:r>
            <a:br/>
            <a:br/>
            <a:r>
              <a:t>VAE, CDiT forward, diffusion wrapper가 함께 동작하는지 확인합니다.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508760"/>
            <a:ext cx="3429000" cy="182880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508760"/>
            <a:ext cx="73152" cy="182880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36776"/>
            <a:ext cx="31363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Runtime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84248"/>
            <a:ext cx="3136392" cy="12618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`nvidia-smi`, log tail, result JSON 존재 여부, `verify_*` 스크립트로 산출물 무결성을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241280" cy="114300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OOM이면 batch size, num_samples, cem_eval_chunk_size를 먼저 봅니다.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checkpoint shape mismatch는 image_size/model/text_dim 차이일 가능성이 큽니다.</a:t>
            </a:r>
          </a:p>
          <a:p>
            <a:pPr>
              <a:spcAft>
                <a:spcPts val="400"/>
              </a:spcAft>
              <a:defRPr sz="1300">
                <a:solidFill>
                  <a:srgbClr val="343D49"/>
                </a:solidFill>
                <a:latin typeface="Noto Sans CJK KR"/>
              </a:defRPr>
            </a:pPr>
            <a:r>
              <a:t>planning metric은 JSON이 생성된 뒤에만 최종값으로 봅니다. log의 rolling average는 중간값입니다.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9. 실습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Artifacts와 실험 기록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3246120" cy="109728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73152" cy="109728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4533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weights/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92808"/>
            <a:ext cx="295351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학습 checkpoint</a:t>
            </a:r>
            <a:br/>
            <a:r>
              <a:t>`weights/checkpoints/&lt;run_name&gt;/&lt;step&gt;.pth.tar`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09728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09728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4533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logs/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8"/>
            <a:ext cx="295351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학습/비동기 실행 로그</a:t>
            </a:r>
            <a:br/>
            <a:r>
              <a:t>resolved config와 runtime 기록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246120" cy="109728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09728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4533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artifacts/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8"/>
            <a:ext cx="2953512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평가 frame, planning JSON, plot, summary, deck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154680"/>
            <a:ext cx="4800600" cy="201168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900">
                <a:solidFill>
                  <a:srgbClr val="EEF2F7"/>
                </a:solidFill>
                <a:latin typeface="DejaVu Sans Mono"/>
              </a:defRPr>
            </a:pPr>
            <a:r>
              <a:t>artifacts/</a:t>
            </a:r>
            <a:br/>
            <a:r>
              <a:t>├── bulk/train/        training sample dumps</a:t>
            </a:r>
            <a:br/>
            <a:r>
              <a:t>├── bulk/eval/         GT and prediction frames</a:t>
            </a:r>
            <a:br/>
            <a:r>
              <a:t>├── bulk/planning/     planning prediction/metric JSONs</a:t>
            </a:r>
            <a:br/>
            <a:r>
              <a:t>├── summaries/         compact metric CSV/MD/PNG</a:t>
            </a:r>
            <a:br/>
            <a:r>
              <a:t>├── profiling/         runtime/profiling figures</a:t>
            </a:r>
            <a:br/>
            <a:r>
              <a:t>└── decks/             presentation outputs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154680"/>
            <a:ext cx="4572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3154680"/>
            <a:ext cx="73152" cy="155448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282696"/>
            <a:ext cx="427939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실험 재현성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30168"/>
            <a:ext cx="4279392" cy="9875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config, checkpoint, dataset split, command, GPU/VRAM, result JSON path를 같이 기록해야 나중에 결과를 다시 해석할 수 있습니다.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10. 공부법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코드 읽기 로드맵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417320"/>
          <a:ext cx="1065276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53557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81F2A"/>
                          </a:solidFill>
                          <a:latin typeface="Noto Sans CJK KR"/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E2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81F2A"/>
                          </a:solidFill>
                          <a:latin typeface="Noto Sans CJK KR"/>
                        </a:defRPr>
                      </a:pPr>
                      <a:r>
                        <a:t>읽을 파일</a:t>
                      </a:r>
                    </a:p>
                  </a:txBody>
                  <a:tcPr>
                    <a:solidFill>
                      <a:srgbClr val="E2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181F2A"/>
                          </a:solidFill>
                          <a:latin typeface="Noto Sans CJK KR"/>
                        </a:defRPr>
                      </a:pPr>
                      <a:r>
                        <a:t>질문</a:t>
                      </a:r>
                    </a:p>
                  </a:txBody>
                  <a:tcPr>
                    <a:solidFill>
                      <a:srgbClr val="E2EDF9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README.md, docs/project_structure.md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전체 pipeline을 말로 설명할 수 있나?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src/data/datasets/*.py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sample이 어떤 tensor로 변환되나?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src/models/backbones/cdit.py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condition vector가 block에 어떻게 들어가나?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scripts/train.py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loss와 checkpoint가 어떻게 만들어지나?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scripts/infer.py, rollout.py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time/rollout prediction 차이는?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cem_planner.py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43D49"/>
                          </a:solidFill>
                          <a:latin typeface="Noto Sans CJK KR"/>
                        </a:defRPr>
                      </a:pPr>
                      <a:r>
                        <a:t>CEM이 action 후보를 어떻게 고르나?</a:t>
                      </a:r>
                    </a:p>
                  </a:txBody>
                  <a:tcPr>
                    <a:solidFill>
                      <a:srgbClr val="F9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532120"/>
            <a:ext cx="103327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181F2A"/>
                </a:solidFill>
                <a:latin typeface="Noto Sans CJK KR"/>
              </a:defRPr>
            </a:pPr>
            <a:r>
              <a:t>읽을 때 항상 “입력 tensor shape → condition → output artifact”를 추적하세요.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10. 공부법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Lab 1: 데이터셋 한 샘플 해부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623560" cy="237744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`TrainingDataset.__getitem__`에 breakpoint 또는 print를 넣고 한 샘플을 꺼냅니다.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`obs_image.shape`, `goal_pos.shape`, `rel_time`, `text_emb.shape`를 기록합니다.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`_compute_actions`에서 global pose가 local x/y/yaw로 바뀌는 과정을 따라갑니다.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text cache가 없는 trajectory에서 zero embedding이 들어가는지 확인합니다.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251960"/>
            <a:ext cx="5486400" cy="86868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900">
                <a:solidFill>
                  <a:srgbClr val="EEF2F7"/>
                </a:solidFill>
                <a:latin typeface="DejaVu Sans Mono"/>
              </a:defRPr>
            </a:pPr>
            <a:r>
              <a:t>python - &lt;&lt;'PY'</a:t>
            </a:r>
            <a:br/>
            <a:r>
              <a:t>from src.config import load_runtime_config</a:t>
            </a:r>
            <a:br/>
            <a:r>
              <a:t>from src.data.transforms.image import build_transform</a:t>
            </a:r>
            <a:br/>
            <a:r>
              <a:t># config를 읽고 TrainingDataset 하나를 직접 생성해 shape를 출력해보는 연습</a:t>
            </a:r>
            <a:br/>
            <a:r>
              <a:t>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95160" y="1645920"/>
            <a:ext cx="3611880" cy="182880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95160" y="1645920"/>
            <a:ext cx="73152" cy="182880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50608" y="1773936"/>
            <a:ext cx="331927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제출물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2121408"/>
            <a:ext cx="3319272" cy="12618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샘플 tensor shape 표</a:t>
            </a:r>
            <a:br/>
            <a:r>
              <a:t>한 trajectory의 curr_time/goal_time 예시</a:t>
            </a:r>
            <a:br/>
            <a:r>
              <a:t>텍스트 embedding source 설명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10. 공부법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Lab 2: 모델 forward 따라가기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5852160" cy="256032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`CDiT.forward(x, t, y, x_cond, rel_t, text_emb)`의 각 인자 shape를 적습니다.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`x_embedder`, `pos_embed`, `y_embedder`, `time_embedder`, `text_proj`를 차례로 확인합니다.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`CDiTBlock.forward`에서 self-attn, cross-attn, MLP가 어떤 순서로 적용되는지 도식화합니다.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text_emb=None일 때와 text_emb가 있을 때 condition vector c가 어떻게 달라지는지 비교합니다.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00200"/>
            <a:ext cx="3566160" cy="105156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0" y="1600200"/>
            <a:ext cx="73152" cy="105156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87768" y="1728216"/>
            <a:ext cx="32735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핵심 질문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7768" y="2075688"/>
            <a:ext cx="3273552" cy="484631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텍스트는 token attention으로 들어가는가, 아니면 global condition으로 들어가는가?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926080"/>
            <a:ext cx="3566160" cy="1417320"/>
          </a:xfrm>
          <a:prstGeom prst="roundRect">
            <a:avLst/>
          </a:prstGeom>
          <a:solidFill>
            <a:srgbClr val="E1F2E8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0" y="2926080"/>
            <a:ext cx="73152" cy="141732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3054096"/>
            <a:ext cx="32735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정답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3401568"/>
            <a:ext cx="327355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현재 구현에서는 `text_proj(text_emb)`가 `c = t + time + action`에 더해지고, 이 c가 adaLN modulation에 사용됩니다.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10. 공부법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Lab 3: 평가 결과 재현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715000" cy="246888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GT frame 생성과 prediction frame 생성을 분리해서 실행합니다.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LPIPS/DreamSim/FID JSON을 만들고, horizon별 metric이 어떻게 변하는지 plot합니다.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planning은 작은 `--max_eval_samples`로 먼저 smoke 후 full run으로 확장합니다.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CEM 설정을 바꿔도 모델 checkpoint는 바뀌지 않는다는 점을 실험 로그로 확인합니다.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0" y="1600200"/>
            <a:ext cx="4343400" cy="1554480"/>
          </a:xfrm>
          <a:prstGeom prst="roundRect">
            <a:avLst/>
          </a:prstGeom>
          <a:solidFill>
            <a:srgbClr val="202630"/>
          </a:solidFill>
          <a:ln>
            <a:solidFill>
              <a:srgbClr val="202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defRPr sz="800">
                <a:solidFill>
                  <a:srgbClr val="EEF2F7"/>
                </a:solidFill>
                <a:latin typeface="DejaVu Sans Mono"/>
              </a:defRPr>
            </a:pPr>
            <a:r>
              <a:t>python scripts/plan_eval.py \</a:t>
            </a:r>
            <a:br/>
            <a:r>
              <a:t>  --exp configs/experiment/nwm_cdit_b_recon_raw_text_dense.yaml \</a:t>
            </a:r>
            <a:br/>
            <a:r>
              <a:t>  --datasets recon --ckp 0030000 \</a:t>
            </a:r>
            <a:br/>
            <a:r>
              <a:t>  --num_samples 120 --topk 5 --num_repeat_eval 3 \</a:t>
            </a:r>
            <a:br/>
            <a:r>
              <a:t>  --opt_steps 1 --action_sampler repeat --rollout_stride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3703320"/>
            <a:ext cx="4343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12280" y="3703320"/>
            <a:ext cx="73152" cy="109728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67728" y="3831335"/>
            <a:ext cx="4050791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제출물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7728" y="4178808"/>
            <a:ext cx="4050791" cy="5303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명령어, checkpoint, output JSON path, ATE/RPE/Pos/Yaw, GPU와 runtime 기록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10. 공부법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시험에 나올 만한 질문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332720" cy="4206240"/>
          </a:xfrm>
          <a:prstGeom prst="rect">
            <a:avLst/>
          </a:prstGeom>
          <a:noFill/>
        </p:spPr>
        <p:txBody>
          <a:bodyPr wrap="square" lIns="73152" rIns="36576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NWM은 policy인가, world model인가? 왜 그렇게 말할 수 있는가?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CDiT에서 self-attention과 cross-attention은 각각 무엇을 보는가?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text conditioning이 모델 architecture에 들어가는 정확한 위치는 어디인가?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time prediction, rollout, planning evaluation은 무엇이 다르고 왜 모두 필요한가?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LPIPS/DreamSim/FID와 ATE/RPE는 서로 어떤 종류의 성능을 측정하는가?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CEM 설정 변경은 왜 재학습이 아니라 평가 방법 변경인가?</a:t>
            </a:r>
          </a:p>
          <a:p>
            <a:pPr>
              <a:spcAft>
                <a:spcPts val="400"/>
              </a:spcAft>
              <a:defRPr sz="1400">
                <a:solidFill>
                  <a:srgbClr val="343D49"/>
                </a:solidFill>
                <a:latin typeface="Noto Sans CJK KR"/>
              </a:defRPr>
            </a:pPr>
            <a:r>
              <a:t>B224 Text paper-style CEM 결과에서 ATE와 RPE 결론이 왜 다르게 나왔는가?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292608"/>
          </a:xfrm>
          <a:prstGeom prst="roundRect">
            <a:avLst/>
          </a:prstGeom>
          <a:solidFill>
            <a:srgbClr val="E2EDF9"/>
          </a:solidFill>
          <a:ln>
            <a:solidFill>
              <a:srgbClr val="E2ED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2563A2"/>
                </a:solidFill>
                <a:latin typeface="Noto Sans CJK KR"/>
              </a:defRPr>
            </a:pPr>
            <a:r>
              <a:t>11.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2600" b="1">
                <a:solidFill>
                  <a:srgbClr val="181F2A"/>
                </a:solidFill>
                <a:latin typeface="Noto Sans CJK KR"/>
              </a:defRPr>
            </a:pPr>
            <a:r>
              <a:t>핵심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78992"/>
            <a:ext cx="11155680" cy="0"/>
          </a:xfrm>
          <a:prstGeom prst="line">
            <a:avLst/>
          </a:prstGeom>
          <a:ln w="12700">
            <a:solidFill>
              <a:srgbClr val="D4DA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01400" y="6437376"/>
            <a:ext cx="502920" cy="20116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defRPr sz="800" b="0">
                <a:solidFill>
                  <a:srgbClr val="656F7D"/>
                </a:solidFill>
                <a:latin typeface="Noto Sans CJK KR"/>
              </a:defRPr>
            </a:pPr>
            <a: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46120" cy="1234440"/>
          </a:xfrm>
          <a:prstGeom prst="roundRect">
            <a:avLst/>
          </a:prstGeom>
          <a:solidFill>
            <a:srgbClr val="E2EDF9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2563A2"/>
          </a:solidFill>
          <a:ln>
            <a:solidFill>
              <a:srgbClr val="2563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4533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1.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8"/>
            <a:ext cx="2953512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현재 관측과 행동으로 미래 시각 상태를 예측해 navigation planning을 돕는 world model입니다.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246120" cy="1234440"/>
          </a:xfrm>
          <a:prstGeom prst="roundRect">
            <a:avLst/>
          </a:prstGeom>
          <a:solidFill>
            <a:srgbClr val="E0F4F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234440"/>
          </a:xfrm>
          <a:prstGeom prst="rect">
            <a:avLst/>
          </a:prstGeom>
          <a:solidFill>
            <a:srgbClr val="14857C"/>
          </a:solidFill>
          <a:ln>
            <a:solidFill>
              <a:srgbClr val="14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54533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2. 방법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8"/>
            <a:ext cx="2953512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VAE latent diffusion + CDiT + action/time/text conditioning으로 future frame latent를 denoise합니다.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246120" cy="1234440"/>
          </a:xfrm>
          <a:prstGeom prst="roundRect">
            <a:avLst/>
          </a:prstGeom>
          <a:solidFill>
            <a:srgbClr val="FCEFE1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417320"/>
            <a:ext cx="73152" cy="1234440"/>
          </a:xfrm>
          <a:prstGeom prst="rect">
            <a:avLst/>
          </a:prstGeom>
          <a:solidFill>
            <a:srgbClr val="CD7425"/>
          </a:solidFill>
          <a:ln>
            <a:solidFill>
              <a:srgbClr val="CD74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45336"/>
            <a:ext cx="295351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3. 평가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892808"/>
            <a:ext cx="2953512" cy="6675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이미지 품질은 LPIPS/DreamSim/FID, navigation은 CEM planning의 ATE/RPE로 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1546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154680"/>
            <a:ext cx="73152" cy="1417320"/>
          </a:xfrm>
          <a:prstGeom prst="rect">
            <a:avLst/>
          </a:prstGeom>
          <a:solidFill>
            <a:srgbClr val="2F804E"/>
          </a:solidFill>
          <a:ln>
            <a:solidFill>
              <a:srgbClr val="2F8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282696"/>
            <a:ext cx="48737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4. 현재 결과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630168"/>
            <a:ext cx="487375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Paper-style CEM full 3/3 완료. B224 No-Text는 paper NWM과 거의 동률, B128 Text는 N32 대비 개선, B224 Text는 ATE 악화/RPE 동률권입니다.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1546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4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154680"/>
            <a:ext cx="73152" cy="1417320"/>
          </a:xfrm>
          <a:prstGeom prst="rect">
            <a:avLst/>
          </a:prstGeom>
          <a:solidFill>
            <a:srgbClr val="7054B4"/>
          </a:solidFill>
          <a:ln>
            <a:solidFill>
              <a:srgbClr val="705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282696"/>
            <a:ext cx="4873752" cy="2560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300" b="1">
                <a:solidFill>
                  <a:srgbClr val="181F2A"/>
                </a:solidFill>
                <a:latin typeface="Noto Sans CJK KR"/>
              </a:defRPr>
            </a:pPr>
            <a:r>
              <a:t>5. 다음 연구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630168"/>
            <a:ext cx="4873752" cy="8503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defRPr sz="1000" b="0">
                <a:solidFill>
                  <a:srgbClr val="343D49"/>
                </a:solidFill>
                <a:latin typeface="Noto Sans CJK KR"/>
              </a:defRPr>
            </a:pPr>
            <a:r>
              <a:t>텍스트가 planning ATE에 손해를 주는 후반 trajectory outlier를 줄이려면 cost function, text source, ranker, CEM sampler를 어떻게 바꿔야 하는가?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defRPr sz="1500" b="1">
                <a:solidFill>
                  <a:srgbClr val="181F2A"/>
                </a:solidFill>
                <a:latin typeface="Noto Sans CJK KR"/>
              </a:defRPr>
            </a:pPr>
            <a:r>
              <a:t>이제 코드를 볼 때는 항상 “data → latent → condition → denoise → decode → metric” 흐름으로 추적하면 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