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0789920" cy="40233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24A74"/>
                </a:solidFill>
                <a:latin typeface="Noto Sans CJK KR"/>
              </a:rPr>
              <a:t>Navigation World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0704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61C24"/>
                </a:solidFill>
                <a:latin typeface="Noto Sans CJK KR"/>
              </a:rPr>
              <a:t>Text-Conditioned NWM
Post-0427 Training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15184"/>
            <a:ext cx="960120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343C46"/>
                </a:solidFill>
                <a:latin typeface="Noto Sans CJK KR"/>
              </a:rPr>
              <a:t>CDiT-S/B, 128/224, text-dense variants, frame prediction and CEM planning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05655"/>
            <a:ext cx="1911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7707C"/>
                </a:solidFill>
                <a:latin typeface="Noto Sans CJK KR"/>
              </a:rPr>
              <a:t>Best local 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34255"/>
            <a:ext cx="191109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4A74"/>
                </a:solidFill>
                <a:latin typeface="Noto Sans CJK KR"/>
              </a:rPr>
              <a:t>1.162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690872"/>
            <a:ext cx="19110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3C46"/>
                </a:solidFill>
                <a:latin typeface="Noto Sans CJK KR"/>
              </a:rPr>
              <a:t>CDiT-B 224 No-Text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977639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05655"/>
            <a:ext cx="1911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7707C"/>
                </a:solidFill>
                <a:latin typeface="Noto Sans CJK KR"/>
              </a:rPr>
              <a:t>Best local RPE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4334255"/>
            <a:ext cx="191109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58079"/>
                </a:solidFill>
                <a:latin typeface="Noto Sans CJK KR"/>
              </a:rPr>
              <a:t>0.354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4690872"/>
            <a:ext cx="19110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3C46"/>
                </a:solidFill>
                <a:latin typeface="Noto Sans CJK KR"/>
              </a:rPr>
              <a:t>CDiT-B 224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3977639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05655"/>
            <a:ext cx="1911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7707C"/>
                </a:solidFill>
                <a:latin typeface="Noto Sans CJK KR"/>
              </a:rPr>
              <a:t>Paper NWM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1" y="4334255"/>
            <a:ext cx="191109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C76C20"/>
                </a:solidFill>
                <a:latin typeface="Noto Sans CJK KR"/>
              </a:rPr>
              <a:t>1.13 / 0.35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1" y="4690872"/>
            <a:ext cx="19110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3C46"/>
                </a:solidFill>
                <a:latin typeface="Noto Sans CJK KR"/>
              </a:rPr>
              <a:t>ATE / RPE 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977639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05655"/>
            <a:ext cx="1911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7707C"/>
                </a:solidFill>
                <a:latin typeface="Noto Sans CJK KR"/>
              </a:rPr>
              <a:t>Main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4334255"/>
            <a:ext cx="1911096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23C36"/>
                </a:solidFill>
                <a:latin typeface="Noto Sans CJK KR"/>
              </a:rPr>
              <a:t>Text ≠ 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4690872"/>
            <a:ext cx="1911096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3C46"/>
                </a:solidFill>
                <a:latin typeface="Noto Sans CJK KR"/>
              </a:rPr>
              <a:t>semantic gain, geometry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Sources: Navigation World Models.pdf; 0427 NWM Text-Conditioned deck; local artifacts under artifacts/profiling and artifacts/summaries/planning.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0427 이후 무엇을 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6235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0427 자료의 핵심 질문: 저해상도 visual world model에서 텍스트가 semantic prior로 작동하는가.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이후 CDiT-S뿐 아니라 CDiT-B까지 확장해 128/224, No-Text/Text-Dense 조합을 평가했다.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평가는 future-frame prediction과 navigation planning으로 나눴다.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원 논문 NWM의 RECON 지표를 기준선으로 넣어, 논문 대비 현재 위치를 수치로 비교했다.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28800"/>
            <a:ext cx="1243584" cy="1417320"/>
          </a:xfrm>
          <a:prstGeom prst="roundRect">
            <a:avLst/>
          </a:prstGeom>
          <a:solidFill>
            <a:srgbClr val="E0EBF6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93392"/>
            <a:ext cx="960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61C24"/>
                </a:solidFill>
                <a:latin typeface="Noto Sans CJK KR"/>
              </a:rPr>
              <a:t>0427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2404872"/>
            <a:ext cx="1024128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343C46"/>
                </a:solidFill>
                <a:latin typeface="Noto Sans CJK KR"/>
              </a:rPr>
              <a:t>idea + early
prediction 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3608" y="1828800"/>
            <a:ext cx="1243584" cy="1417320"/>
          </a:xfrm>
          <a:prstGeom prst="roundRect">
            <a:avLst/>
          </a:prstGeom>
          <a:solidFill>
            <a:srgbClr val="DEF2E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993392"/>
            <a:ext cx="960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61C24"/>
                </a:solidFill>
                <a:latin typeface="Noto Sans CJK KR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3336" y="2404872"/>
            <a:ext cx="1024128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343C46"/>
                </a:solidFill>
                <a:latin typeface="Noto Sans CJK KR"/>
              </a:rPr>
              <a:t>S/B training
128/224 variants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66376" y="1828800"/>
            <a:ext cx="1243584" cy="1417320"/>
          </a:xfrm>
          <a:prstGeom prst="roundRect">
            <a:avLst/>
          </a:prstGeom>
          <a:solidFill>
            <a:srgbClr val="FAEBDC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3536" y="1993392"/>
            <a:ext cx="9601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61C24"/>
                </a:solidFill>
                <a:latin typeface="Noto Sans CJK KR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3" y="2404872"/>
            <a:ext cx="1024128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343C46"/>
                </a:solidFill>
                <a:latin typeface="Noto Sans CJK KR"/>
              </a:rPr>
              <a:t>frame + planning
paper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950208"/>
            <a:ext cx="443484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61C24"/>
                </a:solidFill>
                <a:latin typeface="Noto Sans CJK KR"/>
              </a:rPr>
              <a:t>결론 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370832"/>
            <a:ext cx="44348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Text는 frame metric에서 자주 이득을 보인다.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Planning ATE는 그 이득을 그대로 따라오지 않는다.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CDiT-B는 S보다 yaw/RPE 개선이 더 일관적이다.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0427 deck slides 17-20; local S/B summary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Paper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원 논문의 NWM 기준선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5120640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NWM은 과거 관측과 navigation action을 조건으로 미래 관측을 생성하는 controllable video generation model이다.</a:t>
            </a:r>
          </a:p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CDiT는 context frame 수에 대해 선형 복잡도를 갖도록 설계되었다.</a:t>
            </a:r>
          </a:p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논문은 image metric, video distribution metric, navigation metric을 함께 보고한다.</a:t>
            </a:r>
          </a:p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우리 비교에서는 현재 재현 가능한 LPIPS/DreamSim/FID와 ATE/RPE에 초점을 맞춘다.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44752"/>
          <a:ext cx="5074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1C24"/>
                          </a:solidFill>
                          <a:latin typeface="Noto Sans CJK KR"/>
                        </a:rPr>
                        <a:t>Metric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1C24"/>
                          </a:solidFill>
                          <a:latin typeface="Noto Sans CJK KR"/>
                        </a:rPr>
                        <a:t>Paper best/reference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4s LPIPS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0.295 action+time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4s DreamSim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0.091 action+time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4s PSNR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15.343 action+time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Planning ATE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1.13 NWM only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Planning RPE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0.35 NWM only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16s FVD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43C46"/>
                          </a:solidFill>
                          <a:latin typeface="Noto Sans CJK KR"/>
                        </a:rPr>
                        <a:t>200.969 NWM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Navigation World Models.pdf Table 1, Table 6, Table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우리 실험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353312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1C24"/>
                          </a:solidFill>
                          <a:latin typeface="Noto Sans CJK KR"/>
                        </a:rPr>
                        <a:t>Family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1C24"/>
                          </a:solidFill>
                          <a:latin typeface="Noto Sans CJK KR"/>
                        </a:rPr>
                        <a:t>Resolution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1C24"/>
                          </a:solidFill>
                          <a:latin typeface="Noto Sans CJK KR"/>
                        </a:rPr>
                        <a:t>Condition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1C24"/>
                          </a:solidFill>
                          <a:latin typeface="Noto Sans CJK KR"/>
                        </a:rPr>
                        <a:t>Checkpoint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1C24"/>
                          </a:solidFill>
                          <a:latin typeface="Noto Sans CJK KR"/>
                        </a:rPr>
                        <a:t>Evaluated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nwm_cdit_s/0100000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Text Dense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nwm_cdit_s_recon_raw_text_dense/0030000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nwm_cdit_s_recon_128/0030000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Text Dense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nwm_cdit_s_recon_128_text_dense/0030000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nwm_cdit_b/0100000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Text Dense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nwm_cdit_b_recon_raw_text_dense/0030000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nwm_cdit_b_recon_128/0030000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CDiT-B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Text Dense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nwm_cdit_b_recon_128_text_dense/0030000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43C46"/>
                          </a:solidFill>
                          <a:latin typeface="Noto Sans CJK KR"/>
                        </a:rPr>
                        <a:t>Frame + planning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local checkpoint and planning artifact names.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평가 설정과 비교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4617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24A74"/>
                </a:solidFill>
                <a:latin typeface="Noto Sans CJK KR"/>
              </a:rPr>
              <a:t>Future-frame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617720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4초 및 16초 rollout horizon에서 LPIPS, DreamSim, FID를 측정했다.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모든 지표는 낮을수록 좋다.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현재 산출물에는 PSNR/FVD가 없어 논문 Table 1/6과는 부분 비교만 가능하다.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72768"/>
            <a:ext cx="4617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58079"/>
                </a:solidFill>
                <a:latin typeface="Noto Sans CJK KR"/>
              </a:rPr>
              <a:t>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93392"/>
            <a:ext cx="4617720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RECON 100-sample planning eval, CEM N32/K5/OPT1/rep1.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ATE, RPE trans, position error, yaw error를 본다.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논문 standalone planning appendix의 N=120 후보 설정과 완전히 동일한 조건은 아니다.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Caveat: 논문 runtime/standalone planning 설정과 local full 100-sample planning loop는 apples-to-apples가 아니다.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Future-frame prediction: CDiT-S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25880"/>
          <a:ext cx="7086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/>
                <a:gridCol w="1012371"/>
                <a:gridCol w="1012371"/>
                <a:gridCol w="1012371"/>
                <a:gridCol w="1012371"/>
                <a:gridCol w="1012371"/>
                <a:gridCol w="1012374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Variant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lpips4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dream4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fid4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lpips16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dream16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fid16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CDiT-S 128 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0.308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0.199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33.025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0.403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38.088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CDiT-S 128 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0.292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33.420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0.387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0.250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36.693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CDiT-S 224 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0.370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0.161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33.993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0.463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40.389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CDiT-S 224 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0.366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0.159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33.075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0.458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38.186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1417320"/>
            <a:ext cx="35204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128 Text는 LPIPS/DreamSim에서 4s와 16s 모두 개선된다.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224 Text도 S에서는 frame metric이 전반적으로 개선된다.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하지만 뒤의 planning 결과에서는 S text가 ATE를 낮추지는 못한다.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time-eval outputs summarized into data/frame_prediction_metrics.csv.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Future-frame prediction: CDiT-B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25880"/>
          <a:ext cx="7086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/>
                <a:gridCol w="1012371"/>
                <a:gridCol w="1012371"/>
                <a:gridCol w="1012371"/>
                <a:gridCol w="1012371"/>
                <a:gridCol w="1012371"/>
                <a:gridCol w="1012374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Variant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lpips4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dream4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fid4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lpips16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dream16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fid16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CDiT-B 128 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0.270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29.580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0.380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33.615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CDiT-B 128 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0.262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0.156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28.943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0.367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33.788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CDiT-B 224 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0.121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27.607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0.431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0.187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32.768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CDiT-B 224 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0.338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28.436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0.439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0.189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31.988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1417320"/>
            <a:ext cx="352044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128 Text는 B에서도 LPIPS/DreamSim 개선이 유지된다.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224 Text는 LPIPS/DreamSim이 소폭 나빠지고, 16s FID만 개선된다.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B는 absolute frame metric이 S보다 낮지만, text 효과 방향은 해상도별로 다르다.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time-eval outputs summarized into data/frame_prediction_metrics.csv.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Text minus No-Text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Text 효과: frame metric delta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diction_text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71600"/>
            <a:ext cx="7772400" cy="47147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444752"/>
            <a:ext cx="26517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저해상도 128에서는 S/B 모두 text가 주요 perception metric을 낮춘다.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224에서는 S와 B의 방향이 갈라진다.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FID는 horizon과 모델 크기에 따라 덜 안정적이다.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Negative percent means improvement because all listed frame metrics are lower-is-better.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Training/Eval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Checkpoint-wise rollout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recon_time_over_check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89888"/>
            <a:ext cx="5349240" cy="3849435"/>
          </a:xfrm>
          <a:prstGeom prst="rect">
            <a:avLst/>
          </a:prstGeom>
        </p:spPr>
      </p:pic>
      <p:pic>
        <p:nvPicPr>
          <p:cNvPr id="6" name="Picture 5" descr="01_recon_time_over_check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89888"/>
            <a:ext cx="5349240" cy="38494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23560"/>
            <a:ext cx="4800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7707C"/>
                </a:solidFill>
                <a:latin typeface="Noto Sans CJK KR"/>
              </a:rPr>
              <a:t>CDiT-S checkpoint 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5623560"/>
            <a:ext cx="4800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67707C"/>
                </a:solidFill>
                <a:latin typeface="Noto Sans CJK KR"/>
              </a:rPr>
              <a:t>CDiT-B checkpoint 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Sources: artifacts/profiling/recon_time_over_checkpoints/01_recon_time_over_checkpoints.png; artifacts/profiling/recon_time_over_checkpoints_cdit_b/01_recon_time_over_checkpoints.png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Planning 평가: 0427 이후 추가된 핵심 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0427 자료에서는 future-frame metric 중심이었다.</a:t>
            </a:r>
          </a:p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이후 CEM planning 평가를 추가해 생성 품질이 navigation 성능으로 이어지는지 확인했다.</a:t>
            </a:r>
          </a:p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ATE/RPE는 실제 궤적과 예측 궤적의 geometry를 본다.</a:t>
            </a:r>
          </a:p>
          <a:p>
            <a:pPr>
              <a:spcAft>
                <a:spcPts val="700"/>
              </a:spcAft>
              <a:defRPr sz="1700">
                <a:solidFill>
                  <a:srgbClr val="343C46"/>
                </a:solidFill>
                <a:latin typeface="Noto Sans CJK KR"/>
              </a:defRPr>
            </a:pPr>
            <a:r>
              <a:t>Position/Yaw error를 함께 보면 text가 방향 단서를 stabilizing하는지 분리해서 볼 수 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73952" y="1572768"/>
          <a:ext cx="4572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1C24"/>
                          </a:solidFill>
                          <a:latin typeface="Noto Sans CJK KR"/>
                        </a:rPr>
                        <a:t>Metric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1C24"/>
                          </a:solidFill>
                          <a:latin typeface="Noto Sans CJK KR"/>
                        </a:rPr>
                        <a:t>Interpretation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ATE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global trajectory mismatch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RPE trans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local transition error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Position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goal/pose position mismatch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Yaw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43C46"/>
                          </a:solidFill>
                          <a:latin typeface="Noto Sans CJK KR"/>
                        </a:rPr>
                        <a:t>heading mismatch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Planning eval: RECON 100 samples, CEM N32/K5/OPT1/rep1.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Planning results: CDiT-S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07592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/>
                <a:gridCol w="849085"/>
                <a:gridCol w="849085"/>
                <a:gridCol w="849085"/>
                <a:gridCol w="849085"/>
                <a:gridCol w="849085"/>
                <a:gridCol w="84909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Res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Cond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ATE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RPE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Pos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Yaw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Time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1.280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0.378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1.989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0.375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0.74h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1.341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0.379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2.017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0.306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0.75h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1.169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0.357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1.758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0.327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1.00h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1.248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0.371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1.880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0.376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2.56h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etric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337560"/>
            <a:ext cx="57150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6288" y="1417320"/>
            <a:ext cx="4407408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224 No-Text가 S에서 ATE/RPE 기준 최선이다.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128 Text는 yaw를 18.3% 낮추지만 ATE는 4.7% 증가한다.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224 Text는 frame metric은 좋아졌지만 planning ATE/RPE/Pos/Yaw가 모두 악화된다.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artifacts/summaries/planning/text_vs_notext_128_224_n32/metrics.csv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Planning results: CDiT-B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07592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085"/>
                <a:gridCol w="849085"/>
                <a:gridCol w="849085"/>
                <a:gridCol w="849085"/>
                <a:gridCol w="849085"/>
                <a:gridCol w="849085"/>
                <a:gridCol w="84909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Res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Cond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ATE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RPE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Pos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Yaw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61C24"/>
                          </a:solidFill>
                          <a:latin typeface="Noto Sans CJK KR"/>
                        </a:rPr>
                        <a:t>Time</a:t>
                      </a:r>
                    </a:p>
                  </a:txBody>
                  <a:tcPr marL="45720" marR="45720">
                    <a:solidFill>
                      <a:srgbClr val="E0EB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1.259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0.365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1.881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1.20h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1.261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0.358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1.823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0.250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1.19h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No-Text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1.162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0.355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1.718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0.315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3.17h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1.261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0.354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1.795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0.235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43C46"/>
                          </a:solidFill>
                          <a:latin typeface="Noto Sans CJK KR"/>
                        </a:rPr>
                        <a:t>2.03h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metric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337560"/>
            <a:ext cx="5715000" cy="1725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76288" y="1417320"/>
            <a:ext cx="4407408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128 Text는 ATE가 거의 동일하고 RPE/Pos/Yaw가 모두 개선된다.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224 Text는 ATE/Pos는 악화되지만 RPE/Yaw는 개선된다.</a:t>
            </a:r>
          </a:p>
          <a:p>
            <a:pPr>
              <a:spcAft>
                <a:spcPts val="700"/>
              </a:spcAft>
              <a:defRPr sz="1600">
                <a:solidFill>
                  <a:srgbClr val="343C46"/>
                </a:solidFill>
                <a:latin typeface="Noto Sans CJK KR"/>
              </a:defRPr>
            </a:pPr>
            <a:r>
              <a:t>B는 S보다 yaw 개선이 일관적이며, best ATE는 224 No-Text다.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artifacts/summaries/planning/text_vs_notext_128_224_b_n32/metrics.csv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CDiT-S와 경향성은 유사한가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nning_text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44752"/>
            <a:ext cx="6355080" cy="4020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60920" y="1417320"/>
            <a:ext cx="3931920" cy="452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큰 방향은 유사하다: text가 frame metric을 개선해도 planning ATE가 자동으로 좋아지지는 않는다.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차이는 B에서 더 선명하다: B는 RPE/Yaw 개선이 더 일관적이고 128에서는 Pos도 개선된다.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해상도 경향도 유사하다: 224 No-Text가 ATE 최선인 반면, text는 방향/semantic 단서에는 더 잘 작동한다.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따라서 text conditioning은 semantic prior로는 유효하지만 metric geometry 보강은 별도 축으로 봐야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Planning delta uses Text minus No-Text at the same model family and resolution.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Paper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원 논문 대비: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per_plan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680960" cy="32841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371600"/>
            <a:ext cx="2834640" cy="434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논문 NWM only: ATE 1.13, RPE 0.35.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우리 best ATE는 B 224 No-Text 1.162로 paper 대비 +2.8%.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우리 best RPE는 B 224 Text 0.354로 paper 대비 +1.2%.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Text variant는 대체로 paper ATE까지는 못 내려간다.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Navigation World Models.pdf Table 7; local planning_metrics.csv.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Planning Addendum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CEM budget ablation: paper-style N120/rep3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e_rp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7040880" cy="2813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417320"/>
            <a:ext cx="3520440" cy="434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N120/rep3는 모델 재학습이 아니라 CEM planning search budget 변경이다.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Full N120/rep3 완료: 3/3.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Best N120 ATE: CDiT-B 224 No-Text = 1.130 (-0.0% vs paper).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Best N120 RPE: CDiT-B 128 Text = 0.344 (-1.7% vs paper).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artifacts/summaries/planning/paper_cem_b_selected_n120_rep3/metrics.csv; paper reference ATE 1.13 / RPE 0.35 from Table 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Paper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원 논문 대비: 4초 future-frame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per_predi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680960" cy="32841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371600"/>
            <a:ext cx="2834640" cy="434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논문 action+time: LPIPS 0.295, DreamSim 0.091.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B 128 Text는 LPIPS 0.262로 paper reference보다 낮다.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DreamSim은 모든 local variant가 paper reference보다 높다.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PSNR/FVD가 아직 없어 image/video 분포 비교는 미완성이다.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Navigation World Models.pdf Table 1; local frame_prediction_metrics.csv.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Runtime과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nning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903720" cy="3221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444752"/>
            <a:ext cx="3429000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128 planning은 대략 0.74-1.20시간 범위다.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224 planning은 설정/모델에 따라 1.00-3.17시간까지 증가한다.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논문 Table 8은 단일 trajectory simulation runtime이므로 여기의 full eval total time과 직접 비교하면 안 된다.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Time skip, distillation, quantization은 paper-style runtime 최적화 후보로 남아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Source: local planning total_time fields; Navigation World Models.pdf Table 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해석: text는 semantic prior, geometry는 별도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4343400"/>
          </a:xfrm>
          <a:prstGeom prst="roundRect">
            <a:avLst/>
          </a:prstGeom>
          <a:solidFill>
            <a:srgbClr val="DEF2E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34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61C24"/>
                </a:solidFill>
                <a:latin typeface="Noto Sans CJK KR"/>
              </a:rPr>
              <a:t>What text helps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low-res visual ambiguity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semantic object/scene prior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heading/yaw cues in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83280" cy="4343400"/>
          </a:xfrm>
          <a:prstGeom prst="roundRect">
            <a:avLst/>
          </a:prstGeom>
          <a:solidFill>
            <a:srgbClr val="FAEBDC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834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61C24"/>
                </a:solidFill>
                <a:latin typeface="Noto Sans CJK KR"/>
              </a:rPr>
              <a:t>What text misses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240280"/>
            <a:ext cx="28346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metric position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local obstacle geometry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consistent long-horizon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38328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A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37360"/>
            <a:ext cx="28346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61C24"/>
                </a:solidFill>
                <a:latin typeface="Noto Sans CJK KR"/>
              </a:rPr>
              <a:t>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40280"/>
            <a:ext cx="28346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better image metrics do not guarantee better ATE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planning objective needs geometry-aware conditioning</a:t>
            </a:r>
          </a:p>
          <a:p>
            <a:pPr>
              <a:spcAft>
                <a:spcPts val="700"/>
              </a:spcAft>
              <a:defRPr sz="1500">
                <a:solidFill>
                  <a:srgbClr val="343C46"/>
                </a:solidFill>
                <a:latin typeface="Noto Sans CJK KR"/>
              </a:defRPr>
            </a:pPr>
            <a:r>
              <a:t>text should be fused with pose/RAG, not used alone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Interpretation based on frame metric and planning metric divergence across S/B variants.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7707C"/>
                </a:solidFill>
                <a:latin typeface="Noto Sans CJK KR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1C24"/>
                </a:solidFill>
                <a:latin typeface="Noto Sans CJK KR"/>
              </a:rPr>
              <a:t>다음 실험 제안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64240" cy="18288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515600" cy="4800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S planning을 B와 동일한 repeat sampler path로 재실행해 sampler 차이를 제거한다.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PSNR/FVD를 추가해 논문 Table 1/6과 더 가까운 비교 축을 만든다.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Prompt ablation: short/full/numeric/landmark caption을 분리해 text 효과의 원인을 좁힌다.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Position-aware text 또는 retrieval-augmented context를 넣어 semantic prior에 metric geometry를 결합한다.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Text가 yaw를 낮추지만 ATE를 높이는 route를 failure slice로 모아 rollout을 시각 점검한다.</a:t>
            </a:r>
          </a:p>
          <a:p>
            <a:pPr>
              <a:spcAft>
                <a:spcPts val="700"/>
              </a:spcAft>
              <a:defRPr sz="1800">
                <a:solidFill>
                  <a:srgbClr val="343C46"/>
                </a:solidFill>
                <a:latin typeface="Noto Sans CJK KR"/>
              </a:defRPr>
            </a:pPr>
            <a:r>
              <a:t>Paper runtime 최적화 경로에 맞춰 time skip, distillation, 4-bit quantization을 따로 측정한다.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Noto Sans CJK KR"/>
              </a:rPr>
              <a:t>The highest-priority cleanup is metric-compatible comparison and sampler-aligned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